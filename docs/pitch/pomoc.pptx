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png" ContentType="image/png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8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63" r:id="rId10"/>
    <p:sldId id="262" r:id="rId9"/>
    <p:sldId id="261" r:id="rId8"/>
    <p:sldId id="259" r:id="rId6"/>
    <p:sldId id="260" r:id="rId7"/>
    <p:sldId id="264" r:id="rId11"/>
    <p:sldId id="265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5367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026101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70349536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994806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592692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06368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27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12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5850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54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0369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2460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318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8806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476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398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0137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4210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388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099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177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123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81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4532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895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174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7106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80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759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7636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354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8845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6394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545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879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997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LIGH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946055" name="Text 0"/>
          <p:cNvSpPr/>
          <p:nvPr/>
        </p:nvSpPr>
        <p:spPr bwMode="auto"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Pomóc - The network that is already there  ·  HackYeah 2026</a:t>
            </a:r>
            <a:endParaRPr lang="en-US" sz="1000"/>
          </a:p>
        </p:txBody>
      </p:sp>
      <p:sp>
        <p:nvSpPr>
          <p:cNvPr id="45717856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ARK">
    <p:bg>
      <p:bgPr shadeToTitle="0">
        <a:solidFill>
          <a:srgbClr val="0E1B2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761876" name="Text 0"/>
          <p:cNvSpPr/>
          <p:nvPr/>
        </p:nvSpPr>
        <p:spPr bwMode="auto"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FA3B8"/>
                </a:solidFill>
                <a:latin typeface="Calibri"/>
                <a:ea typeface="Calibri"/>
                <a:cs typeface="Calibri"/>
              </a:rPr>
              <a:t>Pomóc - The network that is already there  ·  HackYeah 2026</a:t>
            </a:r>
            <a:endParaRPr lang="en-US" sz="1000"/>
          </a:p>
        </p:txBody>
      </p:sp>
      <p:sp>
        <p:nvSpPr>
          <p:cNvPr id="149687113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93161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503173" name="Text 0"/>
          <p:cNvSpPr txBox="1"/>
          <p:nvPr/>
        </p:nvSpPr>
        <p:spPr bwMode="auto">
          <a:xfrm>
            <a:off x="54864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HACKYEAH 2026  ·  OPEN TASK: SMART CITY</a:t>
            </a:r>
            <a:endParaRPr lang="en-US" sz="1300"/>
          </a:p>
        </p:txBody>
      </p:sp>
      <p:sp>
        <p:nvSpPr>
          <p:cNvPr id="419446625" name="Text 1"/>
          <p:cNvSpPr txBox="1"/>
          <p:nvPr/>
        </p:nvSpPr>
        <p:spPr bwMode="auto">
          <a:xfrm>
            <a:off x="548640" y="914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Pomóc</a:t>
            </a:r>
            <a:endParaRPr lang="en-US" sz="7200"/>
          </a:p>
        </p:txBody>
      </p:sp>
      <p:sp>
        <p:nvSpPr>
          <p:cNvPr id="1951830214" name="Text 2"/>
          <p:cNvSpPr txBox="1"/>
          <p:nvPr/>
        </p:nvSpPr>
        <p:spPr bwMode="auto">
          <a:xfrm>
            <a:off x="548640" y="2103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i="1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The network that is already there</a:t>
            </a:r>
            <a:endParaRPr lang="en-US" sz="2400"/>
          </a:p>
        </p:txBody>
      </p:sp>
      <p:sp>
        <p:nvSpPr>
          <p:cNvPr id="177166604" name="Text 3"/>
          <p:cNvSpPr txBox="1"/>
          <p:nvPr/>
        </p:nvSpPr>
        <p:spPr bwMode="auto">
          <a:xfrm>
            <a:off x="548640" y="310896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D5DEE9"/>
                </a:solidFill>
                <a:latin typeface="Calibri"/>
                <a:ea typeface="Calibri"/>
                <a:cs typeface="Calibri"/>
              </a:rPr>
              <a:t>A dual-use civic mesh: neighbourhood sharing on an ordinary Tuesday, resilient communication on the day the network goes dark.</a:t>
            </a:r>
            <a:endParaRPr lang="en-US" sz="1600"/>
          </a:p>
        </p:txBody>
      </p:sp>
      <p:sp>
        <p:nvSpPr>
          <p:cNvPr id="439926460" name="Text 4"/>
          <p:cNvSpPr txBox="1"/>
          <p:nvPr/>
        </p:nvSpPr>
        <p:spPr bwMode="auto">
          <a:xfrm>
            <a:off x="54864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Team: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Apexlab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Members: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Vargha Csongor Csaba · Magyar Dániel · Fábi Tamás</a:t>
            </a:r>
            <a:endParaRPr lang="en-US" sz="1300"/>
          </a:p>
        </p:txBody>
      </p:sp>
      <p:sp>
        <p:nvSpPr>
          <p:cNvPr id="613030381" name="Shape 5"/>
          <p:cNvSpPr/>
          <p:nvPr/>
        </p:nvSpPr>
        <p:spPr bwMode="auto">
          <a:xfrm>
            <a:off x="5257800" y="1280160"/>
            <a:ext cx="6675120" cy="3724101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42092310" name="Image 0" descr="/Users/varghacsongorcsaba/Documents/Repos/hackyeah2026/deck/Gemini_Generated_Image_cxcfo6cxcfo6cxcf.jpe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49240" y="1371600"/>
            <a:ext cx="6492240" cy="3541222"/>
          </a:xfrm>
          <a:prstGeom prst="rect">
            <a:avLst/>
          </a:prstGeom>
        </p:spPr>
      </p:pic>
      <p:sp>
        <p:nvSpPr>
          <p:cNvPr id="73789280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068580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THE PROBLEM</a:t>
            </a:r>
            <a:endParaRPr lang="en-US" sz="1100"/>
          </a:p>
        </p:txBody>
      </p:sp>
      <p:sp>
        <p:nvSpPr>
          <p:cNvPr id="1978156764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Two failures, one root cause</a:t>
            </a:r>
            <a:endParaRPr lang="en-US" sz="3000"/>
          </a:p>
        </p:txBody>
      </p:sp>
      <p:sp>
        <p:nvSpPr>
          <p:cNvPr id="130734278" name="Shape 2"/>
          <p:cNvSpPr/>
          <p:nvPr/>
        </p:nvSpPr>
        <p:spPr bwMode="auto">
          <a:xfrm>
            <a:off x="548640" y="12801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pic>
        <p:nvPicPr>
          <p:cNvPr id="104930839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" y="1554480"/>
            <a:ext cx="502920" cy="502920"/>
          </a:xfrm>
          <a:prstGeom prst="rect">
            <a:avLst/>
          </a:prstGeom>
        </p:spPr>
      </p:pic>
      <p:sp>
        <p:nvSpPr>
          <p:cNvPr id="1926852443" name="Text 3"/>
          <p:cNvSpPr txBox="1"/>
          <p:nvPr/>
        </p:nvSpPr>
        <p:spPr bwMode="auto">
          <a:xfrm>
            <a:off x="1554480" y="1508759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On an ordinary day</a:t>
            </a:r>
            <a:endParaRPr lang="en-US" sz="2200"/>
          </a:p>
        </p:txBody>
      </p:sp>
      <p:sp>
        <p:nvSpPr>
          <p:cNvPr id="46134630" name="Text 4"/>
          <p:cNvSpPr txBox="1"/>
          <p:nvPr/>
        </p:nvSpPr>
        <p:spPr bwMode="auto">
          <a:xfrm>
            <a:off x="86868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Resources sit idle. Nobody nearby knows they exist.</a:t>
            </a:r>
            <a:endParaRPr lang="en-US" sz="1500"/>
          </a:p>
        </p:txBody>
      </p:sp>
      <p:sp>
        <p:nvSpPr>
          <p:cNvPr id="42558082" name="Text 5"/>
          <p:cNvSpPr txBox="1"/>
          <p:nvPr/>
        </p:nvSpPr>
        <p:spPr bwMode="auto">
          <a:xfrm>
            <a:off x="868680" y="29260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6600" b="1">
                <a:solidFill>
                  <a:srgbClr val="12A594"/>
                </a:solidFill>
                <a:latin typeface="Cambria"/>
                <a:ea typeface="Cambria"/>
                <a:cs typeface="Cambria"/>
              </a:rPr>
              <a:t>~13 min</a:t>
            </a:r>
            <a:endParaRPr lang="en-US" sz="6600"/>
          </a:p>
        </p:txBody>
      </p:sp>
      <p:sp>
        <p:nvSpPr>
          <p:cNvPr id="2096968892" name="Text 6"/>
          <p:cNvSpPr txBox="1"/>
          <p:nvPr/>
        </p:nvSpPr>
        <p:spPr bwMode="auto">
          <a:xfrm>
            <a:off x="868680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a drill is used in its whole lifetime</a:t>
            </a:r>
            <a:endParaRPr lang="en-US" sz="1500"/>
          </a:p>
        </p:txBody>
      </p:sp>
      <p:sp>
        <p:nvSpPr>
          <p:cNvPr id="1736448391" name="Shape 7"/>
          <p:cNvSpPr/>
          <p:nvPr/>
        </p:nvSpPr>
        <p:spPr bwMode="auto">
          <a:xfrm>
            <a:off x="6199632" y="12801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pic>
        <p:nvPicPr>
          <p:cNvPr id="198062860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19672" y="1554480"/>
            <a:ext cx="502920" cy="502920"/>
          </a:xfrm>
          <a:prstGeom prst="rect">
            <a:avLst/>
          </a:prstGeom>
        </p:spPr>
      </p:pic>
      <p:sp>
        <p:nvSpPr>
          <p:cNvPr id="1003148625" name="Text 8"/>
          <p:cNvSpPr txBox="1"/>
          <p:nvPr/>
        </p:nvSpPr>
        <p:spPr bwMode="auto">
          <a:xfrm>
            <a:off x="7205471" y="1508759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On the bad day</a:t>
            </a:r>
            <a:endParaRPr lang="en-US" sz="2200"/>
          </a:p>
        </p:txBody>
      </p:sp>
      <p:sp>
        <p:nvSpPr>
          <p:cNvPr id="1783315996" name="Text 9"/>
          <p:cNvSpPr txBox="1"/>
          <p:nvPr/>
        </p:nvSpPr>
        <p:spPr bwMode="auto">
          <a:xfrm>
            <a:off x="6519672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Help sits unreachable. The mobile network is the first thing to fail.</a:t>
            </a:r>
            <a:endParaRPr lang="en-US" sz="1500"/>
          </a:p>
        </p:txBody>
      </p:sp>
      <p:sp>
        <p:nvSpPr>
          <p:cNvPr id="1143918062" name="Text 10"/>
          <p:cNvSpPr txBox="1"/>
          <p:nvPr/>
        </p:nvSpPr>
        <p:spPr bwMode="auto">
          <a:xfrm>
            <a:off x="6519672" y="29260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6600" b="1">
                <a:solidFill>
                  <a:srgbClr val="E5484D"/>
                </a:solidFill>
                <a:latin typeface="Cambria"/>
                <a:ea typeface="Cambria"/>
                <a:cs typeface="Cambria"/>
              </a:rPr>
              <a:t>~80 m</a:t>
            </a:r>
            <a:endParaRPr lang="en-US" sz="6600"/>
          </a:p>
        </p:txBody>
      </p:sp>
      <p:sp>
        <p:nvSpPr>
          <p:cNvPr id="286986071" name="Text 11"/>
          <p:cNvSpPr txBox="1"/>
          <p:nvPr/>
        </p:nvSpPr>
        <p:spPr bwMode="auto">
          <a:xfrm>
            <a:off x="6519672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between a cardiac arrest and the AED on the wall</a:t>
            </a:r>
            <a:endParaRPr lang="en-US" sz="1500"/>
          </a:p>
        </p:txBody>
      </p:sp>
      <p:sp>
        <p:nvSpPr>
          <p:cNvPr id="313307698" name="Shape 12"/>
          <p:cNvSpPr/>
          <p:nvPr/>
        </p:nvSpPr>
        <p:spPr bwMode="auto">
          <a:xfrm>
            <a:off x="548640" y="55778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943303555" name="Text 13"/>
          <p:cNvSpPr txBox="1"/>
          <p:nvPr/>
        </p:nvSpPr>
        <p:spPr bwMode="auto"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city already owns what it needs. It is in the wrong pocket.</a:t>
            </a:r>
            <a:endParaRPr lang="en-US" sz="1900"/>
          </a:p>
        </p:txBody>
      </p:sp>
      <p:sp>
        <p:nvSpPr>
          <p:cNvPr id="40714564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6785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THE IDEA</a:t>
            </a:r>
            <a:endParaRPr lang="en-US" sz="1100"/>
          </a:p>
        </p:txBody>
      </p:sp>
      <p:sp>
        <p:nvSpPr>
          <p:cNvPr id="693091232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One network, one identity, two rule sets</a:t>
            </a:r>
            <a:endParaRPr lang="en-US" sz="3000"/>
          </a:p>
        </p:txBody>
      </p:sp>
      <p:sp>
        <p:nvSpPr>
          <p:cNvPr id="1662174447" name="Shape 2"/>
          <p:cNvSpPr/>
          <p:nvPr/>
        </p:nvSpPr>
        <p:spPr bwMode="auto">
          <a:xfrm>
            <a:off x="548640" y="12801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569696596" name="Shape 3"/>
          <p:cNvSpPr/>
          <p:nvPr/>
        </p:nvSpPr>
        <p:spPr bwMode="auto">
          <a:xfrm>
            <a:off x="868680" y="1508759"/>
            <a:ext cx="640080" cy="64008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90343126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14984" y="1655063"/>
            <a:ext cx="347472" cy="347472"/>
          </a:xfrm>
          <a:prstGeom prst="rect">
            <a:avLst/>
          </a:prstGeom>
        </p:spPr>
      </p:pic>
      <p:sp>
        <p:nvSpPr>
          <p:cNvPr id="1049042462" name="Text 4"/>
          <p:cNvSpPr txBox="1"/>
          <p:nvPr/>
        </p:nvSpPr>
        <p:spPr bwMode="auto">
          <a:xfrm>
            <a:off x="1645920" y="1508759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Peace mode</a:t>
            </a:r>
            <a:endParaRPr lang="en-US" sz="2200"/>
          </a:p>
        </p:txBody>
      </p:sp>
      <p:sp>
        <p:nvSpPr>
          <p:cNvPr id="666602324" name="Text 5"/>
          <p:cNvSpPr txBox="1"/>
          <p:nvPr/>
        </p:nvSpPr>
        <p:spPr bwMode="auto">
          <a:xfrm>
            <a:off x="86868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Borrow a drill, get sour cream next door, hand over a parking spot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Reach is hop-limited (default ~3 hops, configurable): local by protocol, not by policy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Free by default; a fee only when a lender asks one for a loan</a:t>
            </a:r>
            <a:endParaRPr lang="en-US" sz="1500"/>
          </a:p>
        </p:txBody>
      </p:sp>
      <p:sp>
        <p:nvSpPr>
          <p:cNvPr id="2145633357" name="Shape 6"/>
          <p:cNvSpPr/>
          <p:nvPr/>
        </p:nvSpPr>
        <p:spPr bwMode="auto">
          <a:xfrm>
            <a:off x="6199632" y="128016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sp>
        <p:nvSpPr>
          <p:cNvPr id="747343253" name="Shape 7"/>
          <p:cNvSpPr/>
          <p:nvPr/>
        </p:nvSpPr>
        <p:spPr bwMode="auto">
          <a:xfrm>
            <a:off x="6519672" y="1508759"/>
            <a:ext cx="640080" cy="6400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4504215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65976" y="1655063"/>
            <a:ext cx="347472" cy="347472"/>
          </a:xfrm>
          <a:prstGeom prst="rect">
            <a:avLst/>
          </a:prstGeom>
        </p:spPr>
      </p:pic>
      <p:sp>
        <p:nvSpPr>
          <p:cNvPr id="704155193" name="Text 8"/>
          <p:cNvSpPr txBox="1"/>
          <p:nvPr/>
        </p:nvSpPr>
        <p:spPr bwMode="auto">
          <a:xfrm>
            <a:off x="7296912" y="1508759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Emergency mode</a:t>
            </a:r>
            <a:endParaRPr lang="en-US" sz="2200"/>
          </a:p>
        </p:txBody>
      </p:sp>
      <p:sp>
        <p:nvSpPr>
          <p:cNvPr id="328482105" name="Text 9"/>
          <p:cNvSpPr txBox="1"/>
          <p:nvPr/>
        </p:nvSpPr>
        <p:spPr bwMode="auto">
          <a:xfrm>
            <a:off x="6519672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Signed official alerts, “I am OK” check-ins, life-critical requests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No operator network needed: home routers mesh over Wi-Fi, phones relay over Bluetooth LE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Fees off, priorities on, store-and-forward on</a:t>
            </a:r>
            <a:endParaRPr lang="en-US" sz="1500"/>
          </a:p>
        </p:txBody>
      </p:sp>
      <p:sp>
        <p:nvSpPr>
          <p:cNvPr id="1864565804" name="Shape 10"/>
          <p:cNvSpPr/>
          <p:nvPr/>
        </p:nvSpPr>
        <p:spPr bwMode="auto">
          <a:xfrm>
            <a:off x="548640" y="55778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754024512" name="Text 11"/>
          <p:cNvSpPr txBox="1"/>
          <p:nvPr/>
        </p:nvSpPr>
        <p:spPr bwMode="auto"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Runs on what the city already has: phones and ISP routers. Routers are the Wi-Fi mesh backbone, phones the Bluetooth edge.</a:t>
            </a:r>
            <a:endParaRPr lang="en-US" sz="1900"/>
          </a:p>
        </p:txBody>
      </p:sp>
      <p:sp>
        <p:nvSpPr>
          <p:cNvPr id="14312184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007367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ARCHITECTURE</a:t>
            </a:r>
            <a:endParaRPr lang="en-US" sz="1100"/>
          </a:p>
        </p:txBody>
      </p:sp>
      <p:sp>
        <p:nvSpPr>
          <p:cNvPr id="793073875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How the pieces fit together</a:t>
            </a:r>
            <a:endParaRPr lang="en-US" sz="3000"/>
          </a:p>
        </p:txBody>
      </p:sp>
      <p:pic>
        <p:nvPicPr>
          <p:cNvPr id="50686699" name="Image 0" descr="overview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8396" y="1143000"/>
            <a:ext cx="10475208" cy="5165965"/>
          </a:xfrm>
          <a:prstGeom prst="rect">
            <a:avLst/>
          </a:prstGeom>
        </p:spPr>
      </p:pic>
      <p:sp>
        <p:nvSpPr>
          <p:cNvPr id="196935168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571064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TRUST</a:t>
            </a:r>
            <a:endParaRPr lang="en-US" sz="1100"/>
          </a:p>
        </p:txBody>
      </p:sp>
      <p:sp>
        <p:nvSpPr>
          <p:cNvPr id="1386840733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Verified people, verifiable offline</a:t>
            </a:r>
            <a:endParaRPr lang="en-US" sz="3000"/>
          </a:p>
        </p:txBody>
      </p:sp>
      <p:pic>
        <p:nvPicPr>
          <p:cNvPr id="1451143410" name="Image 0" descr="validatio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234440"/>
            <a:ext cx="4335797" cy="4846320"/>
          </a:xfrm>
          <a:prstGeom prst="rect">
            <a:avLst/>
          </a:prstGeom>
        </p:spPr>
      </p:pic>
      <p:sp>
        <p:nvSpPr>
          <p:cNvPr id="1296532032" name="Text 2"/>
          <p:cNvSpPr txBox="1"/>
          <p:nvPr/>
        </p:nvSpPr>
        <p:spPr bwMode="auto">
          <a:xfrm>
            <a:off x="5486400" y="1280160"/>
            <a:ext cx="615391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Register once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through the national identity wallet (mObywatel / EUDI). The key is born in the phone's secure chip and never leaves it; the Authority verifies the person and the device, then signs a citizen certificate.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Every message is signed.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Any node verifies it with the Authority root key already in the app. No network needed.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Routers hold relay certificates: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they carry, they can never ask. A cryptographic rule, not a policy.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Pseudonymous on the wire.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~30-day keys: the phone makes a new one and the Authority re-signs it, through the mesh when the internet is gone.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Forged alerts die.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Local authorities sign declarations for their area with keys under the Authority root; alerts are signed too. Anything unverifiable is dropped at the first hop.</a:t>
            </a:r>
            <a:endParaRPr lang="en-US" sz="1500"/>
          </a:p>
        </p:txBody>
      </p:sp>
      <p:sp>
        <p:nvSpPr>
          <p:cNvPr id="48658016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377894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PEACE MODE</a:t>
            </a:r>
            <a:endParaRPr lang="en-US" sz="1100"/>
          </a:p>
        </p:txBody>
      </p:sp>
      <p:sp>
        <p:nvSpPr>
          <p:cNvPr id="263696980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Resource sharing within a few hops</a:t>
            </a:r>
            <a:endParaRPr lang="en-US" sz="3000"/>
          </a:p>
        </p:txBody>
      </p:sp>
      <p:sp>
        <p:nvSpPr>
          <p:cNvPr id="83727440" name="Text 2"/>
          <p:cNvSpPr txBox="1"/>
          <p:nvPr/>
        </p:nvSpPr>
        <p:spPr bwMode="auto">
          <a:xfrm>
            <a:off x="548640" y="128016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Request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→ neighbours within the hop limit see it → first accepted match closes it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Shared-ownership amortisation: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a tool lent for small fees pays itself back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Registered static resources: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public AEDs, shelters, water points pinned to the map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Daily OK (opt-in senior care):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no phone use for hours or a detected fall → the phone asks “Are you OK?” → the people the senior chose → only then nearest neighbours and 112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Local questions and answers: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is the pharmacy open, who has a spare car seat, is the playground flooded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Guard rails: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rate limits per identity, reputation, quiet hours, category mutes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Why it matters for the bad day: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the app is already installed, the identities already issued, the graph already known</a:t>
            </a:r>
            <a:endParaRPr lang="en-US" sz="1500"/>
          </a:p>
        </p:txBody>
      </p:sp>
      <p:sp>
        <p:nvSpPr>
          <p:cNvPr id="2099946720" name="Shape 3"/>
          <p:cNvSpPr/>
          <p:nvPr/>
        </p:nvSpPr>
        <p:spPr bwMode="auto">
          <a:xfrm>
            <a:off x="7589520" y="128016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481537752" name="Text 4"/>
          <p:cNvSpPr txBox="1"/>
          <p:nvPr/>
        </p:nvSpPr>
        <p:spPr bwMode="auto">
          <a:xfrm>
            <a:off x="78181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Example request</a:t>
            </a:r>
            <a:endParaRPr lang="en-US" sz="1200"/>
          </a:p>
        </p:txBody>
      </p:sp>
      <p:sp>
        <p:nvSpPr>
          <p:cNvPr id="633554458" name="Text 5"/>
          <p:cNvSpPr txBox="1"/>
          <p:nvPr/>
        </p:nvSpPr>
        <p:spPr bwMode="auto">
          <a:xfrm>
            <a:off x="781812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Cordless drill, Sunday afternoon</a:t>
            </a:r>
            <a:endParaRPr lang="en-US" sz="2200"/>
          </a:p>
        </p:txBody>
      </p:sp>
      <p:sp>
        <p:nvSpPr>
          <p:cNvPr id="697658926" name="Shape 6"/>
          <p:cNvSpPr/>
          <p:nvPr/>
        </p:nvSpPr>
        <p:spPr bwMode="auto">
          <a:xfrm>
            <a:off x="7818120" y="2697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1731465" name="Text 7"/>
          <p:cNvSpPr txBox="1"/>
          <p:nvPr/>
        </p:nvSpPr>
        <p:spPr bwMode="auto">
          <a:xfrm>
            <a:off x="7818120" y="2697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2 PLN fee</a:t>
            </a:r>
            <a:endParaRPr lang="en-US" sz="1200"/>
          </a:p>
        </p:txBody>
      </p:sp>
      <p:sp>
        <p:nvSpPr>
          <p:cNvPr id="461647166" name="Shape 8"/>
          <p:cNvSpPr/>
          <p:nvPr/>
        </p:nvSpPr>
        <p:spPr bwMode="auto">
          <a:xfrm>
            <a:off x="9052560" y="2697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3995959" name="Text 9"/>
          <p:cNvSpPr txBox="1"/>
          <p:nvPr/>
        </p:nvSpPr>
        <p:spPr bwMode="auto">
          <a:xfrm>
            <a:off x="9052560" y="2697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3 hops</a:t>
            </a:r>
            <a:endParaRPr lang="en-US" sz="1200"/>
          </a:p>
        </p:txBody>
      </p:sp>
      <p:sp>
        <p:nvSpPr>
          <p:cNvPr id="505365274" name="Shape 10"/>
          <p:cNvSpPr/>
          <p:nvPr/>
        </p:nvSpPr>
        <p:spPr bwMode="auto">
          <a:xfrm>
            <a:off x="10287000" y="2697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11507420" name="Text 11"/>
          <p:cNvSpPr txBox="1"/>
          <p:nvPr/>
        </p:nvSpPr>
        <p:spPr bwMode="auto">
          <a:xfrm>
            <a:off x="10287000" y="2697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expires 2 h</a:t>
            </a:r>
            <a:endParaRPr lang="en-US" sz="1200"/>
          </a:p>
        </p:txBody>
      </p:sp>
      <p:sp>
        <p:nvSpPr>
          <p:cNvPr id="292064157" name="Text 12"/>
          <p:cNvSpPr txBox="1"/>
          <p:nvPr/>
        </p:nvSpPr>
        <p:spPr bwMode="auto">
          <a:xfrm>
            <a:off x="7818120" y="3291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Matched by Marek, </a:t>
            </a:r>
            <a:r>
              <a:rPr lang="en-US" sz="1600" b="1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2 hops away</a:t>
            </a:r>
            <a:r>
              <a:rPr lang="en-US" sz="16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, in ~4 minutes.</a:t>
            </a:r>
            <a:endParaRPr lang="en-US" sz="1600"/>
          </a:p>
        </p:txBody>
      </p:sp>
      <p:sp>
        <p:nvSpPr>
          <p:cNvPr id="1913274643" name="Text 13"/>
          <p:cNvSpPr txBox="1"/>
          <p:nvPr/>
        </p:nvSpPr>
        <p:spPr bwMode="auto">
          <a:xfrm>
            <a:off x="7818120" y="4206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No shop trip, no delivery van, one drill working instead of two idle ones.</a:t>
            </a:r>
            <a:endParaRPr lang="en-US" sz="1300"/>
          </a:p>
        </p:txBody>
      </p:sp>
      <p:sp>
        <p:nvSpPr>
          <p:cNvPr id="132134031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283175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EMERGENCY MODE</a:t>
            </a:r>
            <a:endParaRPr lang="en-US" sz="1100"/>
          </a:p>
        </p:txBody>
      </p:sp>
      <p:sp>
        <p:nvSpPr>
          <p:cNvPr id="718654347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Three levels, one signed declaration</a:t>
            </a:r>
            <a:endParaRPr lang="en-US" sz="3000"/>
          </a:p>
        </p:txBody>
      </p:sp>
      <p:graphicFrame>
        <p:nvGraphicFramePr>
          <p:cNvPr id="30692446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280160"/>
          <a:ext cx="11091672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377440"/>
                <a:gridCol w="3017519"/>
                <a:gridCol w="2743200"/>
                <a:gridCol w="2953512"/>
              </a:tblGrid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endParaRPr lang="en-US" sz="1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L1 Disruption</a:t>
                      </a:r>
                      <a:endParaRPr lang="en-US" sz="1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L2 Disaster</a:t>
                      </a:r>
                      <a:endParaRPr lang="en-US" sz="1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E5484D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 Security</a:t>
                      </a:r>
                      <a:endParaRPr lang="en-US" sz="15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9B1C28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/>
                          <a:ea typeface="Calibri"/>
                          <a:cs typeface="Calibri"/>
                        </a:rPr>
                        <a:t>Cause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cell outage, cable cut, cyberattack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flood, storm, blackout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armed attack, hybrid threat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/>
                          <a:ea typeface="Calibri"/>
                          <a:cs typeface="Calibri"/>
                        </a:rPr>
                        <a:t>Entered by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automatic (no backhaul) or local authority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local authority declaration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local authority declaration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/>
                          <a:ea typeface="Calibri"/>
                          <a:cs typeface="Calibri"/>
                        </a:rPr>
                        <a:t>Router portal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read + check-in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read + check-in + request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read only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/>
                          <a:ea typeface="Calibri"/>
                          <a:cs typeface="Calibri"/>
                        </a:rPr>
                        <a:t>Citizen requests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emergency requests: life-critical, safety, “I am OK”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emergency requests: life-critical, safety, “I am OK”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life-critical, safety, “I am OK”; casualty reports sealed to the authorities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/>
                          <a:ea typeface="Calibri"/>
                          <a:cs typeface="Calibri"/>
                        </a:rPr>
                        <a:t>Citizen info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 b="1">
                          <a:solidFill>
                            <a:srgbClr val="1B2A3D"/>
                          </a:solidFill>
                          <a:latin typeface="Calibri"/>
                          <a:ea typeface="Calibri"/>
                          <a:cs typeface="Calibri"/>
                        </a:rPr>
                        <a:t>off (rumour control), phones go quiet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09728" marR="109728" marT="45720" marB="45720" anchor="ctr">
                    <a:lnL w="9525" algn="ctr">
                      <a:solidFill>
                        <a:srgbClr val="D5DEE9"/>
                      </a:solidFill>
                    </a:lnL>
                    <a:lnR w="9525" algn="ctr">
                      <a:solidFill>
                        <a:srgbClr val="D5DEE9"/>
                      </a:solidFill>
                    </a:lnR>
                    <a:lnT w="9525" algn="ctr">
                      <a:solidFill>
                        <a:srgbClr val="D5DEE9"/>
                      </a:solidFill>
                    </a:lnT>
                    <a:lnB w="9525" algn="ctr">
                      <a:solidFill>
                        <a:srgbClr val="D5DEE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53574238" name="Shape 2"/>
          <p:cNvSpPr/>
          <p:nvPr/>
        </p:nvSpPr>
        <p:spPr bwMode="auto">
          <a:xfrm>
            <a:off x="548640" y="493776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866165868" name="Text 3"/>
          <p:cNvSpPr txBox="1"/>
          <p:nvPr/>
        </p:nvSpPr>
        <p:spPr bwMode="auto">
          <a:xfrm>
            <a:off x="82296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Jamming the cells can force L1 at most. Everything above it needs a signature. Portal inputs are aggregated once a minute per router, so the mesh load is bounded by routers, not attackers.</a:t>
            </a:r>
            <a:endParaRPr lang="en-US" sz="1900"/>
          </a:p>
        </p:txBody>
      </p:sp>
      <p:sp>
        <p:nvSpPr>
          <p:cNvPr id="58121565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333796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TARGET SCENARIO · VISION, NOT IN THE SIM</a:t>
            </a:r>
            <a:endParaRPr lang="en-US" sz="1100"/>
          </a:p>
        </p:txBody>
      </p:sp>
      <p:sp>
        <p:nvSpPr>
          <p:cNvPr id="840573791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The AED, in ~90 seconds</a:t>
            </a:r>
            <a:endParaRPr lang="en-US" sz="3000"/>
          </a:p>
        </p:txBody>
      </p:sp>
      <p:sp>
        <p:nvSpPr>
          <p:cNvPr id="240199937" name="Shape 2"/>
          <p:cNvSpPr/>
          <p:nvPr/>
        </p:nvSpPr>
        <p:spPr bwMode="auto">
          <a:xfrm>
            <a:off x="548640" y="12801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52415324" name="Shape 3"/>
          <p:cNvSpPr/>
          <p:nvPr/>
        </p:nvSpPr>
        <p:spPr bwMode="auto">
          <a:xfrm>
            <a:off x="777240" y="1508759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89187029" name="Text 4"/>
          <p:cNvSpPr txBox="1"/>
          <p:nvPr/>
        </p:nvSpPr>
        <p:spPr bwMode="auto">
          <a:xfrm>
            <a:off x="777240" y="150875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800"/>
          </a:p>
        </p:txBody>
      </p:sp>
      <p:sp>
        <p:nvSpPr>
          <p:cNvPr id="21030007" name="Text 5"/>
          <p:cNvSpPr txBox="1"/>
          <p:nvPr/>
        </p:nvSpPr>
        <p:spPr bwMode="auto">
          <a:xfrm>
            <a:off x="777240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Ola sends a signed LIFE_CRITICAL request with her location attached.</a:t>
            </a:r>
            <a:endParaRPr lang="en-US" sz="1700"/>
          </a:p>
        </p:txBody>
      </p:sp>
      <p:sp>
        <p:nvSpPr>
          <p:cNvPr id="1959497218" name="Text 6"/>
          <p:cNvSpPr txBox="1"/>
          <p:nvPr/>
        </p:nvSpPr>
        <p:spPr bwMode="auto">
          <a:xfrm>
            <a:off x="777240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It floods the mesh at top priority, pre-empting everything else.</a:t>
            </a:r>
            <a:endParaRPr lang="en-US" sz="1400"/>
          </a:p>
        </p:txBody>
      </p:sp>
      <p:sp>
        <p:nvSpPr>
          <p:cNvPr id="1891006863" name="Shape 7"/>
          <p:cNvSpPr/>
          <p:nvPr/>
        </p:nvSpPr>
        <p:spPr bwMode="auto">
          <a:xfrm>
            <a:off x="3374136" y="12801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51875338" name="Shape 8"/>
          <p:cNvSpPr/>
          <p:nvPr/>
        </p:nvSpPr>
        <p:spPr bwMode="auto">
          <a:xfrm>
            <a:off x="3602735" y="1508759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7259950" name="Text 9"/>
          <p:cNvSpPr txBox="1"/>
          <p:nvPr/>
        </p:nvSpPr>
        <p:spPr bwMode="auto">
          <a:xfrm>
            <a:off x="3602735" y="150875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800"/>
          </a:p>
        </p:txBody>
      </p:sp>
      <p:sp>
        <p:nvSpPr>
          <p:cNvPr id="1766553647" name="Text 10"/>
          <p:cNvSpPr txBox="1"/>
          <p:nvPr/>
        </p:nvSpPr>
        <p:spPr bwMode="auto">
          <a:xfrm>
            <a:off x="3602735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The mesh knows a registered AED ~40 m from Marek.</a:t>
            </a:r>
            <a:endParaRPr lang="en-US" sz="1700"/>
          </a:p>
        </p:txBody>
      </p:sp>
      <p:sp>
        <p:nvSpPr>
          <p:cNvPr id="1112594716" name="Text 11"/>
          <p:cNvSpPr txBox="1"/>
          <p:nvPr/>
        </p:nvSpPr>
        <p:spPr bwMode="auto">
          <a:xfrm>
            <a:off x="3602735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He is the nearest capable responder and accepts with one tap.</a:t>
            </a:r>
            <a:endParaRPr lang="en-US" sz="1400"/>
          </a:p>
        </p:txBody>
      </p:sp>
      <p:sp>
        <p:nvSpPr>
          <p:cNvPr id="1327310519" name="Shape 12"/>
          <p:cNvSpPr/>
          <p:nvPr/>
        </p:nvSpPr>
        <p:spPr bwMode="auto">
          <a:xfrm>
            <a:off x="6199632" y="12801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3312259" name="Shape 13"/>
          <p:cNvSpPr/>
          <p:nvPr/>
        </p:nvSpPr>
        <p:spPr bwMode="auto">
          <a:xfrm>
            <a:off x="6428232" y="1508759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3936463" name="Text 14"/>
          <p:cNvSpPr txBox="1"/>
          <p:nvPr/>
        </p:nvSpPr>
        <p:spPr bwMode="auto">
          <a:xfrm>
            <a:off x="6428232" y="150875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800"/>
          </a:p>
        </p:txBody>
      </p:sp>
      <p:sp>
        <p:nvSpPr>
          <p:cNvPr id="18010485" name="Text 15"/>
          <p:cNvSpPr txBox="1"/>
          <p:nvPr/>
        </p:nvSpPr>
        <p:spPr bwMode="auto">
          <a:xfrm>
            <a:off x="6428232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Everyone else sees the request is taken.</a:t>
            </a:r>
            <a:endParaRPr lang="en-US" sz="1700"/>
          </a:p>
        </p:txBody>
      </p:sp>
      <p:sp>
        <p:nvSpPr>
          <p:cNvPr id="929170234" name="Text 16"/>
          <p:cNvSpPr txBox="1"/>
          <p:nvPr/>
        </p:nvSpPr>
        <p:spPr bwMode="auto">
          <a:xfrm>
            <a:off x="6428232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The mesh guides Marek to the AED, then to Ola.</a:t>
            </a:r>
            <a:endParaRPr lang="en-US" sz="1400"/>
          </a:p>
        </p:txBody>
      </p:sp>
      <p:sp>
        <p:nvSpPr>
          <p:cNvPr id="2098789383" name="Shape 17"/>
          <p:cNvSpPr/>
          <p:nvPr/>
        </p:nvSpPr>
        <p:spPr bwMode="auto">
          <a:xfrm>
            <a:off x="9025128" y="12801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sp>
        <p:nvSpPr>
          <p:cNvPr id="482418551" name="Shape 18"/>
          <p:cNvSpPr/>
          <p:nvPr/>
        </p:nvSpPr>
        <p:spPr bwMode="auto">
          <a:xfrm>
            <a:off x="9253728" y="1508759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06512863" name="Text 19"/>
          <p:cNvSpPr txBox="1"/>
          <p:nvPr/>
        </p:nvSpPr>
        <p:spPr bwMode="auto">
          <a:xfrm>
            <a:off x="9253728" y="150875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800"/>
          </a:p>
        </p:txBody>
      </p:sp>
      <p:sp>
        <p:nvSpPr>
          <p:cNvPr id="1303726247" name="Text 20"/>
          <p:cNvSpPr txBox="1"/>
          <p:nvPr/>
        </p:nvSpPr>
        <p:spPr bwMode="auto">
          <a:xfrm>
            <a:off x="9253728" y="2240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Marek runs it over.</a:t>
            </a:r>
            <a:endParaRPr lang="en-US" sz="1700"/>
          </a:p>
        </p:txBody>
      </p:sp>
      <p:sp>
        <p:nvSpPr>
          <p:cNvPr id="893354684" name="Text 21"/>
          <p:cNvSpPr txBox="1"/>
          <p:nvPr/>
        </p:nvSpPr>
        <p:spPr bwMode="auto">
          <a:xfrm>
            <a:off x="9253728" y="3474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One person moves, the messages did the rest.</a:t>
            </a:r>
            <a:endParaRPr lang="en-US" sz="1400"/>
          </a:p>
        </p:txBody>
      </p:sp>
      <p:sp>
        <p:nvSpPr>
          <p:cNvPr id="10674184" name="Shape 22"/>
          <p:cNvSpPr/>
          <p:nvPr/>
        </p:nvSpPr>
        <p:spPr bwMode="auto"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404811624" name="Text 23"/>
          <p:cNvSpPr txBox="1"/>
          <p:nvPr/>
        </p:nvSpPr>
        <p:spPr bwMode="auto"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Messages travel hop by hop. The object travels with one person.</a:t>
            </a:r>
            <a:endParaRPr lang="en-US" sz="1900"/>
          </a:p>
        </p:txBody>
      </p:sp>
      <p:sp>
        <p:nvSpPr>
          <p:cNvPr id="52375311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107814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WHAT WE BUILT AT HACKYEAH</a:t>
            </a:r>
            <a:endParaRPr lang="en-US" sz="1100"/>
          </a:p>
        </p:txBody>
      </p:sp>
      <p:sp>
        <p:nvSpPr>
          <p:cNvPr id="1762713851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A simulation of the protocol on a city graph</a:t>
            </a:r>
            <a:endParaRPr lang="en-US" sz="3000"/>
          </a:p>
        </p:txBody>
      </p:sp>
      <p:sp>
        <p:nvSpPr>
          <p:cNvPr id="1437537097" name="Text 2"/>
          <p:cNvSpPr txBox="1"/>
          <p:nvPr/>
        </p:nvSpPr>
        <p:spPr bwMode="auto">
          <a:xfrm>
            <a:off x="548640" y="1234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Kraków district, static router layer plus mobile phone layer, in one interactive one-pager. Deterministic, playable step by step:</a:t>
            </a:r>
            <a:endParaRPr lang="en-US" sz="1500"/>
          </a:p>
        </p:txBody>
      </p:sp>
      <p:sp>
        <p:nvSpPr>
          <p:cNvPr id="1981180555" name="Shape 3"/>
          <p:cNvSpPr/>
          <p:nvPr/>
        </p:nvSpPr>
        <p:spPr bwMode="auto">
          <a:xfrm>
            <a:off x="548640" y="21031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039807700" name="Shape 4"/>
          <p:cNvSpPr/>
          <p:nvPr/>
        </p:nvSpPr>
        <p:spPr bwMode="auto">
          <a:xfrm>
            <a:off x="658368" y="219456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451426289" name="Text 5"/>
          <p:cNvSpPr txBox="1"/>
          <p:nvPr/>
        </p:nvSpPr>
        <p:spPr bwMode="auto">
          <a:xfrm>
            <a:off x="65836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200"/>
          </a:p>
        </p:txBody>
      </p:sp>
      <p:sp>
        <p:nvSpPr>
          <p:cNvPr id="1161876405" name="Text 6"/>
          <p:cNvSpPr txBox="1"/>
          <p:nvPr/>
        </p:nvSpPr>
        <p:spPr bwMode="auto">
          <a:xfrm>
            <a:off x="114300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Peace request + match</a:t>
            </a:r>
            <a:endParaRPr lang="en-US" sz="1300"/>
          </a:p>
        </p:txBody>
      </p:sp>
      <p:sp>
        <p:nvSpPr>
          <p:cNvPr id="412250144" name="Shape 7"/>
          <p:cNvSpPr/>
          <p:nvPr/>
        </p:nvSpPr>
        <p:spPr bwMode="auto">
          <a:xfrm>
            <a:off x="3931920" y="21031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10512087" name="Shape 8"/>
          <p:cNvSpPr/>
          <p:nvPr/>
        </p:nvSpPr>
        <p:spPr bwMode="auto">
          <a:xfrm>
            <a:off x="4041648" y="219456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175164111" name="Text 9"/>
          <p:cNvSpPr txBox="1"/>
          <p:nvPr/>
        </p:nvSpPr>
        <p:spPr bwMode="auto">
          <a:xfrm>
            <a:off x="404164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00"/>
          </a:p>
        </p:txBody>
      </p:sp>
      <p:sp>
        <p:nvSpPr>
          <p:cNvPr id="187483474" name="Text 10"/>
          <p:cNvSpPr txBox="1"/>
          <p:nvPr/>
        </p:nvSpPr>
        <p:spPr bwMode="auto">
          <a:xfrm>
            <a:off x="4526280" y="2103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Flooding: hop limit, TTL, dedup</a:t>
            </a:r>
            <a:endParaRPr lang="en-US" sz="1300"/>
          </a:p>
        </p:txBody>
      </p:sp>
      <p:sp>
        <p:nvSpPr>
          <p:cNvPr id="1935030632" name="Shape 11"/>
          <p:cNvSpPr/>
          <p:nvPr/>
        </p:nvSpPr>
        <p:spPr bwMode="auto">
          <a:xfrm>
            <a:off x="548640" y="27889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482885579" name="Shape 12"/>
          <p:cNvSpPr/>
          <p:nvPr/>
        </p:nvSpPr>
        <p:spPr bwMode="auto">
          <a:xfrm>
            <a:off x="658368" y="288036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94839128" name="Text 13"/>
          <p:cNvSpPr txBox="1"/>
          <p:nvPr/>
        </p:nvSpPr>
        <p:spPr bwMode="auto">
          <a:xfrm>
            <a:off x="65836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200"/>
          </a:p>
        </p:txBody>
      </p:sp>
      <p:sp>
        <p:nvSpPr>
          <p:cNvPr id="905114869" name="Text 14"/>
          <p:cNvSpPr txBox="1"/>
          <p:nvPr/>
        </p:nvSpPr>
        <p:spPr bwMode="auto">
          <a:xfrm>
            <a:off x="114300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Cells down → L1, router backbone</a:t>
            </a:r>
            <a:endParaRPr lang="en-US" sz="1300"/>
          </a:p>
        </p:txBody>
      </p:sp>
      <p:sp>
        <p:nvSpPr>
          <p:cNvPr id="1130715960" name="Shape 15"/>
          <p:cNvSpPr/>
          <p:nvPr/>
        </p:nvSpPr>
        <p:spPr bwMode="auto">
          <a:xfrm>
            <a:off x="3931920" y="27889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971227610" name="Shape 16"/>
          <p:cNvSpPr/>
          <p:nvPr/>
        </p:nvSpPr>
        <p:spPr bwMode="auto">
          <a:xfrm>
            <a:off x="4041648" y="288036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790109138" name="Text 17"/>
          <p:cNvSpPr txBox="1"/>
          <p:nvPr/>
        </p:nvSpPr>
        <p:spPr bwMode="auto">
          <a:xfrm>
            <a:off x="404164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200"/>
          </a:p>
        </p:txBody>
      </p:sp>
      <p:sp>
        <p:nvSpPr>
          <p:cNvPr id="1902808971" name="Text 18"/>
          <p:cNvSpPr txBox="1"/>
          <p:nvPr/>
        </p:nvSpPr>
        <p:spPr bwMode="auto">
          <a:xfrm>
            <a:off x="452628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Power down → phone-only, store-and-forward</a:t>
            </a:r>
            <a:endParaRPr lang="en-US" sz="1300"/>
          </a:p>
        </p:txBody>
      </p:sp>
      <p:sp>
        <p:nvSpPr>
          <p:cNvPr id="1646713728" name="Shape 19"/>
          <p:cNvSpPr/>
          <p:nvPr/>
        </p:nvSpPr>
        <p:spPr bwMode="auto">
          <a:xfrm>
            <a:off x="548640" y="34747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456264795" name="Shape 20"/>
          <p:cNvSpPr/>
          <p:nvPr/>
        </p:nvSpPr>
        <p:spPr bwMode="auto">
          <a:xfrm>
            <a:off x="658368" y="356616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885077313" name="Text 21"/>
          <p:cNvSpPr txBox="1"/>
          <p:nvPr/>
        </p:nvSpPr>
        <p:spPr bwMode="auto">
          <a:xfrm>
            <a:off x="658368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200"/>
          </a:p>
        </p:txBody>
      </p:sp>
      <p:sp>
        <p:nvSpPr>
          <p:cNvPr id="1489836331" name="Text 22"/>
          <p:cNvSpPr txBox="1"/>
          <p:nvPr/>
        </p:nvSpPr>
        <p:spPr bwMode="auto">
          <a:xfrm>
            <a:off x="114300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L2 west, L3 east: regional declarations</a:t>
            </a:r>
            <a:endParaRPr lang="en-US" sz="1300"/>
          </a:p>
        </p:txBody>
      </p:sp>
      <p:sp>
        <p:nvSpPr>
          <p:cNvPr id="1952981667" name="Shape 23"/>
          <p:cNvSpPr/>
          <p:nvPr/>
        </p:nvSpPr>
        <p:spPr bwMode="auto">
          <a:xfrm>
            <a:off x="3931920" y="34747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309794040" name="Shape 24"/>
          <p:cNvSpPr/>
          <p:nvPr/>
        </p:nvSpPr>
        <p:spPr bwMode="auto">
          <a:xfrm>
            <a:off x="4041648" y="356616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349084974" name="Text 25"/>
          <p:cNvSpPr txBox="1"/>
          <p:nvPr/>
        </p:nvSpPr>
        <p:spPr bwMode="auto">
          <a:xfrm>
            <a:off x="4041648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200"/>
          </a:p>
        </p:txBody>
      </p:sp>
      <p:sp>
        <p:nvSpPr>
          <p:cNvPr id="1781359038" name="Text 26"/>
          <p:cNvSpPr txBox="1"/>
          <p:nvPr/>
        </p:nvSpPr>
        <p:spPr bwMode="auto">
          <a:xfrm>
            <a:off x="452628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Forged request rejected</a:t>
            </a:r>
            <a:endParaRPr lang="en-US" sz="1300"/>
          </a:p>
        </p:txBody>
      </p:sp>
      <p:sp>
        <p:nvSpPr>
          <p:cNvPr id="844598415" name="Text 27"/>
          <p:cNvSpPr txBox="1"/>
          <p:nvPr/>
        </p:nvSpPr>
        <p:spPr bwMode="auto">
          <a:xfrm>
            <a:off x="548640" y="42519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Live metrics: </a:t>
            </a:r>
            <a:r>
              <a:rPr lang="en-US" sz="14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reach, delivery per class, hops, latency. Set device counts and radio range and see how </a:t>
            </a:r>
            <a:r>
              <a:rPr lang="en-US" sz="14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coverage</a:t>
            </a:r>
            <a:r>
              <a:rPr lang="en-US" sz="14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 changes with fewer nodes.</a:t>
            </a:r>
            <a:endParaRPr lang="en-US" sz="1400"/>
          </a:p>
        </p:txBody>
      </p:sp>
      <p:sp>
        <p:nvSpPr>
          <p:cNvPr id="1948797526" name="Shape 28"/>
          <p:cNvSpPr/>
          <p:nvPr/>
        </p:nvSpPr>
        <p:spPr bwMode="auto">
          <a:xfrm>
            <a:off x="7680960" y="1234440"/>
            <a:ext cx="3959352" cy="3840480"/>
          </a:xfrm>
          <a:prstGeom prst="roundRect">
            <a:avLst>
              <a:gd name="adj" fmla="val 285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66160497" name="Text 29"/>
          <p:cNvSpPr txBox="1"/>
          <p:nvPr/>
        </p:nvSpPr>
        <p:spPr bwMode="auto">
          <a:xfrm>
            <a:off x="79095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Honest scope</a:t>
            </a:r>
            <a:endParaRPr lang="en-US" sz="1800"/>
          </a:p>
        </p:txBody>
      </p:sp>
      <p:sp>
        <p:nvSpPr>
          <p:cNvPr id="1612088532" name="Text 30"/>
          <p:cNvSpPr txBox="1"/>
          <p:nvPr/>
        </p:nvSpPr>
        <p:spPr bwMode="auto">
          <a:xfrm>
            <a:off x="7909560" y="18288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Built: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the protocol simulation (modes, levels, flooding, hop limits, TTL, de-duplication, store-and-forward, degradation)</a:t>
            </a:r>
            <a:endParaRPr lang="en-US" sz="13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Not simulated: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cryptography (a trust flag stands in), topology gossip, rate limits, AED registry and guidance, casualty reports, router portal, Daily OK. Timers are compressed for the demo</a:t>
            </a:r>
            <a:endParaRPr lang="en-US" sz="13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Not built: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router firmware, identity integration, Authority services</a:t>
            </a:r>
            <a:endParaRPr lang="en-US" sz="13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Vision, not in the sim: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coverage planning. Phone density shifts by district and over time; the city sees where Pomóc is thin and responds with relay nodes, campaigns or incentives</a:t>
            </a:r>
            <a:endParaRPr lang="en-US" sz="1300"/>
          </a:p>
        </p:txBody>
      </p:sp>
      <p:sp>
        <p:nvSpPr>
          <p:cNvPr id="868645062" name="Shape 31"/>
          <p:cNvSpPr/>
          <p:nvPr/>
        </p:nvSpPr>
        <p:spPr bwMode="auto">
          <a:xfrm>
            <a:off x="548640" y="53492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796005981" name="Text 32"/>
          <p:cNvSpPr txBox="1"/>
          <p:nvPr/>
        </p:nvSpPr>
        <p:spPr bwMode="auto"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Pomóc is a vision; the simulation is the argument.</a:t>
            </a:r>
            <a:endParaRPr lang="en-US" sz="1900"/>
          </a:p>
        </p:txBody>
      </p:sp>
      <p:sp>
        <p:nvSpPr>
          <p:cNvPr id="5499983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159715" name="Text 0"/>
          <p:cNvSpPr txBox="1"/>
          <p:nvPr/>
        </p:nvSpPr>
        <p:spPr bwMode="auto">
          <a:xfrm>
            <a:off x="54864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2A594"/>
                </a:solidFill>
                <a:latin typeface="Calibri"/>
                <a:ea typeface="Calibri"/>
                <a:cs typeface="Calibri"/>
              </a:rPr>
              <a:t>WHY IT IS BELIEVABLE</a:t>
            </a:r>
            <a:endParaRPr lang="en-US" sz="1100"/>
          </a:p>
        </p:txBody>
      </p:sp>
      <p:sp>
        <p:nvSpPr>
          <p:cNvPr id="51630029" name="Text 1"/>
          <p:cNvSpPr txBox="1"/>
          <p:nvPr/>
        </p:nvSpPr>
        <p:spPr bwMode="auto"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Every piece has been tried. Nobody has combined them.</a:t>
            </a:r>
            <a:endParaRPr lang="en-US" sz="3000"/>
          </a:p>
        </p:txBody>
      </p:sp>
      <p:sp>
        <p:nvSpPr>
          <p:cNvPr id="977339253" name="Text 2"/>
          <p:cNvSpPr txBox="1"/>
          <p:nvPr/>
        </p:nvSpPr>
        <p:spPr bwMode="auto">
          <a:xfrm>
            <a:off x="548640" y="1280160"/>
            <a:ext cx="6766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00000JAPAN and Comcast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already flip existing home and public Wi-Fi open in disasters, by remote config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EUDI wallets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are mandatory EU-wide: Pomóc would plug into mObywatel in Poland, DÁP in Hungary, any national wallet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Alert RCB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is moving into mObywatel; Pomóc is its offline continuation when the cells are down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Japan's Relay-by-Smartphone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has tested phone-to-phone message relaying since 2011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Peerby: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~80% of neighbourhood requests filled within ~30 minutes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Standard parts: </a:t>
            </a:r>
            <a:r>
              <a:rPr lang="en-US" sz="15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802.11s router mesh (OpenWrt), BLE / Wi-Fi Aware, TR-369, PKI with secure-element keys</a:t>
            </a:r>
            <a:endParaRPr lang="en-US" sz="1500"/>
          </a:p>
        </p:txBody>
      </p:sp>
      <p:sp>
        <p:nvSpPr>
          <p:cNvPr id="1477137037" name="Shape 3"/>
          <p:cNvSpPr/>
          <p:nvPr/>
        </p:nvSpPr>
        <p:spPr bwMode="auto">
          <a:xfrm>
            <a:off x="7680960" y="1280160"/>
            <a:ext cx="3959352" cy="3931920"/>
          </a:xfrm>
          <a:prstGeom prst="roundRect">
            <a:avLst>
              <a:gd name="adj" fmla="val 27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97660732" name="Text 4"/>
          <p:cNvSpPr txBox="1"/>
          <p:nvPr/>
        </p:nvSpPr>
        <p:spPr bwMode="auto">
          <a:xfrm>
            <a:off x="79095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E1B2C"/>
                </a:solidFill>
                <a:latin typeface="Cambria"/>
                <a:ea typeface="Cambria"/>
                <a:cs typeface="Cambria"/>
              </a:rPr>
              <a:t>The point</a:t>
            </a:r>
            <a:endParaRPr lang="en-US" sz="1700"/>
          </a:p>
        </p:txBody>
      </p:sp>
      <p:sp>
        <p:nvSpPr>
          <p:cNvPr id="1532316002" name="Text 5"/>
          <p:cNvSpPr txBox="1"/>
          <p:nvPr/>
        </p:nvSpPr>
        <p:spPr bwMode="auto">
          <a:xfrm>
            <a:off x="7909560" y="187452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The first 24 hours.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After an attack or disaster, authorities and emergency services need time to respond. Pomóc keeps a communication platform alive in that gap.</a:t>
            </a:r>
            <a:endParaRPr lang="en-US" sz="13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Aim: fewer casualties.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Life-critical requests, casualty reports with voluntarily shared position, and verified official alerts keep moving without cells or power.</a:t>
            </a:r>
            <a:endParaRPr lang="en-US" sz="13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Already in every pocket.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Almost no new hardware, no new identity scheme: phones, home routers, a few battery-backed relays and the national EUDI wallet.</a:t>
            </a:r>
            <a:endParaRPr lang="en-US" sz="13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No ISP payment. </a:t>
            </a:r>
            <a:r>
              <a:rPr lang="en-US" sz="1300">
                <a:solidFill>
                  <a:srgbClr val="1B2A3D"/>
                </a:solidFill>
                <a:latin typeface="Calibri"/>
                <a:ea typeface="Calibri"/>
                <a:cs typeface="Calibri"/>
              </a:rPr>
              <a:t>Government-legalised, nonprofit software. ISPs are not paid. The only cost is the gateway servers the governance has to maintain anyway as communication hubs.</a:t>
            </a:r>
            <a:endParaRPr lang="en-US" sz="1300"/>
          </a:p>
        </p:txBody>
      </p:sp>
      <p:sp>
        <p:nvSpPr>
          <p:cNvPr id="1697106971" name="Shape 6"/>
          <p:cNvSpPr/>
          <p:nvPr/>
        </p:nvSpPr>
        <p:spPr bwMode="auto">
          <a:xfrm>
            <a:off x="548640" y="5440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395561029" name="Text 7"/>
          <p:cNvSpPr txBox="1"/>
          <p:nvPr/>
        </p:nvSpPr>
        <p:spPr bwMode="auto">
          <a:xfrm>
            <a:off x="822960" y="544068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Next: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protocol spec · pilot in one district with one ISP · battery-backed relay placement from the coverage model.   </a:t>
            </a:r>
            <a:r>
              <a:rPr lang="en-US" sz="1300">
                <a:solidFill>
                  <a:srgbClr val="B7C5D6"/>
                </a:solidFill>
                <a:latin typeface="Calibri"/>
                <a:ea typeface="Calibri"/>
                <a:cs typeface="Calibri"/>
              </a:rPr>
              <a:t>Concept, research, docs, simulation and this deck were made with AI assistance (Claude Code; title illustration generated with Gemini); the team stands behind all of it.</a:t>
            </a:r>
            <a:endParaRPr lang="en-US" sz="1300"/>
          </a:p>
        </p:txBody>
      </p:sp>
      <p:sp>
        <p:nvSpPr>
          <p:cNvPr id="45529565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euro-office/2.5.565.0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Pomóc - The network that is already there</dc:title>
  <dc:subject>PptxGenJS Presentation</dc:subject>
  <dc:creator>Vargha Csongor Csaba · Magyar Dániel · Fábi Tamás</dc:creator>
  <cp:lastModifiedBy>John Smith</cp:lastModifiedBy>
  <cp:revision>2</cp:revision>
  <dcterms:created xsi:type="dcterms:W3CDTF">2026-10-03T18:12:02Z</dcterms:created>
  <dcterms:modified xsi:type="dcterms:W3CDTF">2026-10-03T23:56:46Z</dcterms:modified>
</cp:coreProperties>
</file>