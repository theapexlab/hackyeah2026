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notesSlides/notesSlide8.xml" ContentType="application/vnd.openxmlformats-officedocument.presentationml.notesSlide+xml"/>
  <Override PartName="/ppt/slides/slide1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notesSlides/notesSlide10.xml" ContentType="application/vnd.openxmlformats-officedocument.presentationml.notesSlide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tableStyles.xml" ContentType="application/vnd.openxmlformats-officedocument.presentationml.tableStyles+xml"/>
  <Override PartName="/ppt/slides/slide8.xml" ContentType="application/vnd.openxmlformats-officedocument.presentationml.slide+xml"/>
  <Override PartName="/ppt/notesSlides/notesSlide4.xml" ContentType="application/vnd.openxmlformats-officedocument.presentationml.notes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53677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002610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7034953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9948063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592692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063687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274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7012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5850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540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0369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24604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318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88067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476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398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137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42102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388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60999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177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123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2819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45327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8955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5174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71068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806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5759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7636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354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884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6394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457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879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997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LIGHT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946055" name="Text 0"/>
          <p:cNvSpPr/>
          <p:nvPr/>
        </p:nvSpPr>
        <p:spPr bwMode="auto"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Pomóc - The network that is already there  ·  HackYeah 2026</a:t>
            </a:r>
            <a:endParaRPr lang="en-US" sz="1000"/>
          </a:p>
        </p:txBody>
      </p:sp>
      <p:sp>
        <p:nvSpPr>
          <p:cNvPr id="45717856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ARK">
    <p:bg>
      <p:bgPr shadeToTitle="0">
        <a:solidFill>
          <a:srgbClr val="0E1B2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761876" name="Text 0"/>
          <p:cNvSpPr/>
          <p:nvPr/>
        </p:nvSpPr>
        <p:spPr bwMode="auto"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Pomóc - The network that is already there  ·  HackYeah 2026</a:t>
            </a:r>
            <a:endParaRPr lang="en-US" sz="1000"/>
          </a:p>
        </p:txBody>
      </p:sp>
      <p:sp>
        <p:nvSpPr>
          <p:cNvPr id="149687113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93161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503173" name="Text 0"/>
          <p:cNvSpPr txBox="1"/>
          <p:nvPr/>
        </p:nvSpPr>
        <p:spPr bwMode="auto">
          <a:xfrm>
            <a:off x="54864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HACKYEAH 2026  ·  OPEN TASK: SMART CITY</a:t>
            </a:r>
            <a:endParaRPr lang="en-US" sz="1300"/>
          </a:p>
        </p:txBody>
      </p:sp>
      <p:sp>
        <p:nvSpPr>
          <p:cNvPr id="419446625" name="Text 1"/>
          <p:cNvSpPr txBox="1"/>
          <p:nvPr/>
        </p:nvSpPr>
        <p:spPr bwMode="auto">
          <a:xfrm>
            <a:off x="548640" y="914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7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Pomóc</a:t>
            </a:r>
            <a:endParaRPr lang="en-US" sz="7200"/>
          </a:p>
        </p:txBody>
      </p:sp>
      <p:sp>
        <p:nvSpPr>
          <p:cNvPr id="1951830214" name="Text 2"/>
          <p:cNvSpPr txBox="1"/>
          <p:nvPr/>
        </p:nvSpPr>
        <p:spPr bwMode="auto">
          <a:xfrm>
            <a:off x="548640" y="2103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i="1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The network that is already there</a:t>
            </a:r>
            <a:endParaRPr lang="en-US" sz="2400"/>
          </a:p>
        </p:txBody>
      </p:sp>
      <p:sp>
        <p:nvSpPr>
          <p:cNvPr id="177166604" name="Text 3"/>
          <p:cNvSpPr txBox="1"/>
          <p:nvPr/>
        </p:nvSpPr>
        <p:spPr bwMode="auto">
          <a:xfrm>
            <a:off x="548640" y="31089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D5DEE9"/>
                </a:solidFill>
                <a:latin typeface="Calibri"/>
                <a:ea typeface="Calibri"/>
                <a:cs typeface="Calibri"/>
              </a:rPr>
              <a:t>A dual-use civic mesh: neighbourhood sharing on an ordinary Tuesday, resilient communication on the day the network goes dark.</a:t>
            </a:r>
            <a:endParaRPr lang="en-US" sz="1600"/>
          </a:p>
        </p:txBody>
      </p:sp>
      <p:sp>
        <p:nvSpPr>
          <p:cNvPr id="439926460" name="Text 4"/>
          <p:cNvSpPr txBox="1"/>
          <p:nvPr/>
        </p:nvSpPr>
        <p:spPr bwMode="auto">
          <a:xfrm>
            <a:off x="54864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Team: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Apexlab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Members: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Vargha Csongor Csaba · Magyar Dániel · Fábi Tamás</a:t>
            </a:r>
            <a:endParaRPr lang="en-US" sz="1300"/>
          </a:p>
        </p:txBody>
      </p:sp>
      <p:sp>
        <p:nvSpPr>
          <p:cNvPr id="613030381" name="Shape 5"/>
          <p:cNvSpPr/>
          <p:nvPr/>
        </p:nvSpPr>
        <p:spPr bwMode="auto">
          <a:xfrm>
            <a:off x="5257800" y="1280160"/>
            <a:ext cx="6675120" cy="3724101"/>
          </a:xfrm>
          <a:prstGeom prst="roundRect">
            <a:avLst>
              <a:gd name="adj" fmla="val 2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42092310" name="Image 0" descr="/Users/varghacsongorcsaba/Documents/Repos/hackyeah2026/deck/Gemini_Generated_Image_cxcfo6cxcfo6cxcf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49240" y="1371600"/>
            <a:ext cx="6492240" cy="3541222"/>
          </a:xfrm>
          <a:prstGeom prst="rect">
            <a:avLst/>
          </a:prstGeom>
        </p:spPr>
      </p:pic>
      <p:sp>
        <p:nvSpPr>
          <p:cNvPr id="73789280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068580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THE PROBLEM</a:t>
            </a:r>
            <a:endParaRPr lang="en-US" sz="1100"/>
          </a:p>
        </p:txBody>
      </p:sp>
      <p:sp>
        <p:nvSpPr>
          <p:cNvPr id="1978156764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Two failures, one root cause</a:t>
            </a:r>
            <a:endParaRPr lang="en-US" sz="3000"/>
          </a:p>
        </p:txBody>
      </p:sp>
      <p:sp>
        <p:nvSpPr>
          <p:cNvPr id="130734278" name="Shape 2"/>
          <p:cNvSpPr/>
          <p:nvPr/>
        </p:nvSpPr>
        <p:spPr bwMode="auto"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pic>
        <p:nvPicPr>
          <p:cNvPr id="104930839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8680" y="1554480"/>
            <a:ext cx="502920" cy="502920"/>
          </a:xfrm>
          <a:prstGeom prst="rect">
            <a:avLst/>
          </a:prstGeom>
        </p:spPr>
      </p:pic>
      <p:sp>
        <p:nvSpPr>
          <p:cNvPr id="1926852443" name="Text 3"/>
          <p:cNvSpPr txBox="1"/>
          <p:nvPr/>
        </p:nvSpPr>
        <p:spPr bwMode="auto">
          <a:xfrm>
            <a:off x="1554480" y="1508759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 an ordinary day</a:t>
            </a:r>
            <a:endParaRPr lang="en-US" sz="2200"/>
          </a:p>
        </p:txBody>
      </p:sp>
      <p:sp>
        <p:nvSpPr>
          <p:cNvPr id="46134630" name="Text 4"/>
          <p:cNvSpPr txBox="1"/>
          <p:nvPr/>
        </p:nvSpPr>
        <p:spPr bwMode="auto">
          <a:xfrm>
            <a:off x="868680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Resources sit idle. Nobody nearby knows they exist.</a:t>
            </a:r>
            <a:endParaRPr lang="en-US" sz="1500"/>
          </a:p>
        </p:txBody>
      </p:sp>
      <p:sp>
        <p:nvSpPr>
          <p:cNvPr id="42558082" name="Text 5"/>
          <p:cNvSpPr txBox="1"/>
          <p:nvPr/>
        </p:nvSpPr>
        <p:spPr bwMode="auto">
          <a:xfrm>
            <a:off x="868680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600" b="1">
                <a:solidFill>
                  <a:srgbClr val="12A594"/>
                </a:solidFill>
                <a:latin typeface="Cambria"/>
                <a:ea typeface="Cambria"/>
                <a:cs typeface="Cambria"/>
              </a:rPr>
              <a:t>~13 min</a:t>
            </a:r>
            <a:endParaRPr lang="en-US" sz="6600"/>
          </a:p>
        </p:txBody>
      </p:sp>
      <p:sp>
        <p:nvSpPr>
          <p:cNvPr id="2096968892" name="Text 6"/>
          <p:cNvSpPr txBox="1"/>
          <p:nvPr/>
        </p:nvSpPr>
        <p:spPr bwMode="auto">
          <a:xfrm>
            <a:off x="868680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a drill is used in its whole lifetime</a:t>
            </a:r>
            <a:endParaRPr lang="en-US" sz="1500"/>
          </a:p>
        </p:txBody>
      </p:sp>
      <p:sp>
        <p:nvSpPr>
          <p:cNvPr id="1736448391" name="Shape 7"/>
          <p:cNvSpPr/>
          <p:nvPr/>
        </p:nvSpPr>
        <p:spPr bwMode="auto"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pic>
        <p:nvPicPr>
          <p:cNvPr id="198062860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519672" y="1554480"/>
            <a:ext cx="502920" cy="502920"/>
          </a:xfrm>
          <a:prstGeom prst="rect">
            <a:avLst/>
          </a:prstGeom>
        </p:spPr>
      </p:pic>
      <p:sp>
        <p:nvSpPr>
          <p:cNvPr id="1003148625" name="Text 8"/>
          <p:cNvSpPr txBox="1"/>
          <p:nvPr/>
        </p:nvSpPr>
        <p:spPr bwMode="auto">
          <a:xfrm>
            <a:off x="7205471" y="1508759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 the bad day</a:t>
            </a:r>
            <a:endParaRPr lang="en-US" sz="2200"/>
          </a:p>
        </p:txBody>
      </p:sp>
      <p:sp>
        <p:nvSpPr>
          <p:cNvPr id="1783315996" name="Text 9"/>
          <p:cNvSpPr txBox="1"/>
          <p:nvPr/>
        </p:nvSpPr>
        <p:spPr bwMode="auto">
          <a:xfrm>
            <a:off x="6519672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Help sits unreachable. The mobile network is the first thing to fail.</a:t>
            </a:r>
            <a:endParaRPr lang="en-US" sz="1500"/>
          </a:p>
        </p:txBody>
      </p:sp>
      <p:sp>
        <p:nvSpPr>
          <p:cNvPr id="1143918062" name="Text 10"/>
          <p:cNvSpPr txBox="1"/>
          <p:nvPr/>
        </p:nvSpPr>
        <p:spPr bwMode="auto">
          <a:xfrm>
            <a:off x="6519672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600" b="1">
                <a:solidFill>
                  <a:srgbClr val="E5484D"/>
                </a:solidFill>
                <a:latin typeface="Cambria"/>
                <a:ea typeface="Cambria"/>
                <a:cs typeface="Cambria"/>
              </a:rPr>
              <a:t>~80 m</a:t>
            </a:r>
            <a:endParaRPr lang="en-US" sz="6600"/>
          </a:p>
        </p:txBody>
      </p:sp>
      <p:sp>
        <p:nvSpPr>
          <p:cNvPr id="286986071" name="Text 11"/>
          <p:cNvSpPr txBox="1"/>
          <p:nvPr/>
        </p:nvSpPr>
        <p:spPr bwMode="auto">
          <a:xfrm>
            <a:off x="6519672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between a cardiac arrest and the AED on the wall</a:t>
            </a:r>
            <a:endParaRPr lang="en-US" sz="1500"/>
          </a:p>
        </p:txBody>
      </p:sp>
      <p:sp>
        <p:nvSpPr>
          <p:cNvPr id="313307698" name="Shape 12"/>
          <p:cNvSpPr/>
          <p:nvPr/>
        </p:nvSpPr>
        <p:spPr bwMode="auto"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943303555" name="Text 13"/>
          <p:cNvSpPr txBox="1"/>
          <p:nvPr/>
        </p:nvSpPr>
        <p:spPr bwMode="auto"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city already owns what it needs. It is in the wrong pocket.</a:t>
            </a:r>
            <a:endParaRPr lang="en-US" sz="1900"/>
          </a:p>
        </p:txBody>
      </p:sp>
      <p:sp>
        <p:nvSpPr>
          <p:cNvPr id="40714564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9678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THE IDEA</a:t>
            </a:r>
            <a:endParaRPr lang="en-US" sz="1100"/>
          </a:p>
        </p:txBody>
      </p:sp>
      <p:sp>
        <p:nvSpPr>
          <p:cNvPr id="693091232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One network, one identity, two rule sets</a:t>
            </a:r>
            <a:endParaRPr lang="en-US" sz="3000"/>
          </a:p>
        </p:txBody>
      </p:sp>
      <p:sp>
        <p:nvSpPr>
          <p:cNvPr id="1662174447" name="Shape 2"/>
          <p:cNvSpPr/>
          <p:nvPr/>
        </p:nvSpPr>
        <p:spPr bwMode="auto"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569696596" name="Shape 3"/>
          <p:cNvSpPr/>
          <p:nvPr/>
        </p:nvSpPr>
        <p:spPr bwMode="auto">
          <a:xfrm>
            <a:off x="868680" y="1508759"/>
            <a:ext cx="640080" cy="64008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190343126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14984" y="1655063"/>
            <a:ext cx="347472" cy="347472"/>
          </a:xfrm>
          <a:prstGeom prst="rect">
            <a:avLst/>
          </a:prstGeom>
        </p:spPr>
      </p:pic>
      <p:sp>
        <p:nvSpPr>
          <p:cNvPr id="1049042462" name="Text 4"/>
          <p:cNvSpPr txBox="1"/>
          <p:nvPr/>
        </p:nvSpPr>
        <p:spPr bwMode="auto">
          <a:xfrm>
            <a:off x="1645920" y="1508759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Peace mode</a:t>
            </a:r>
            <a:endParaRPr lang="en-US" sz="2200"/>
          </a:p>
        </p:txBody>
      </p:sp>
      <p:sp>
        <p:nvSpPr>
          <p:cNvPr id="666602324" name="Text 5"/>
          <p:cNvSpPr txBox="1"/>
          <p:nvPr/>
        </p:nvSpPr>
        <p:spPr bwMode="auto">
          <a:xfrm>
            <a:off x="868680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Borrow a drill, get sour cream next door, hand over a parking spot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Reach is hop-limited (default ~3 hops, configurable): local by protocol, not by policy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Optional micro-payments or credits</a:t>
            </a:r>
            <a:endParaRPr lang="en-US" sz="1500"/>
          </a:p>
        </p:txBody>
      </p:sp>
      <p:sp>
        <p:nvSpPr>
          <p:cNvPr id="2145633357" name="Shape 6"/>
          <p:cNvSpPr/>
          <p:nvPr/>
        </p:nvSpPr>
        <p:spPr bwMode="auto"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747343253" name="Shape 7"/>
          <p:cNvSpPr/>
          <p:nvPr/>
        </p:nvSpPr>
        <p:spPr bwMode="auto">
          <a:xfrm>
            <a:off x="6519672" y="1508759"/>
            <a:ext cx="640080" cy="64008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4504215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65976" y="1655063"/>
            <a:ext cx="347472" cy="347472"/>
          </a:xfrm>
          <a:prstGeom prst="rect">
            <a:avLst/>
          </a:prstGeom>
        </p:spPr>
      </p:pic>
      <p:sp>
        <p:nvSpPr>
          <p:cNvPr id="704155193" name="Text 8"/>
          <p:cNvSpPr txBox="1"/>
          <p:nvPr/>
        </p:nvSpPr>
        <p:spPr bwMode="auto">
          <a:xfrm>
            <a:off x="7296912" y="1508759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Emergency mode</a:t>
            </a:r>
            <a:endParaRPr lang="en-US" sz="2200"/>
          </a:p>
        </p:txBody>
      </p:sp>
      <p:sp>
        <p:nvSpPr>
          <p:cNvPr id="328482105" name="Text 9"/>
          <p:cNvSpPr txBox="1"/>
          <p:nvPr/>
        </p:nvSpPr>
        <p:spPr bwMode="auto">
          <a:xfrm>
            <a:off x="6519672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Signed official alerts, “I am OK” check-ins, life-critical requests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backbone needed: phones and home routers relay hop by hop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Payments off, priorities on, store-and-forward on</a:t>
            </a:r>
            <a:endParaRPr lang="en-US" sz="1500"/>
          </a:p>
        </p:txBody>
      </p:sp>
      <p:sp>
        <p:nvSpPr>
          <p:cNvPr id="1864565804" name="Shape 10"/>
          <p:cNvSpPr/>
          <p:nvPr/>
        </p:nvSpPr>
        <p:spPr bwMode="auto"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754024512" name="Text 11"/>
          <p:cNvSpPr txBox="1"/>
          <p:nvPr/>
        </p:nvSpPr>
        <p:spPr bwMode="auto"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Runs on what the city already has: phones and ISP routers. Routers are the static backbone, phones the mobile edge.</a:t>
            </a:r>
            <a:endParaRPr lang="en-US" sz="1900"/>
          </a:p>
        </p:txBody>
      </p:sp>
      <p:sp>
        <p:nvSpPr>
          <p:cNvPr id="14312184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007367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ARCHITECTURE</a:t>
            </a:r>
            <a:endParaRPr lang="en-US" sz="1100"/>
          </a:p>
        </p:txBody>
      </p:sp>
      <p:sp>
        <p:nvSpPr>
          <p:cNvPr id="793073875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How the pieces fit together</a:t>
            </a:r>
            <a:endParaRPr lang="en-US" sz="3000"/>
          </a:p>
        </p:txBody>
      </p:sp>
      <p:pic>
        <p:nvPicPr>
          <p:cNvPr id="50686699" name="Image 0" descr="overview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58396" y="1143000"/>
            <a:ext cx="10475208" cy="5165965"/>
          </a:xfrm>
          <a:prstGeom prst="rect">
            <a:avLst/>
          </a:prstGeom>
        </p:spPr>
      </p:pic>
      <p:sp>
        <p:nvSpPr>
          <p:cNvPr id="196935168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57106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TRUST</a:t>
            </a:r>
            <a:endParaRPr lang="en-US" sz="1100"/>
          </a:p>
        </p:txBody>
      </p:sp>
      <p:sp>
        <p:nvSpPr>
          <p:cNvPr id="1386840733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Verified people, verifiable offline</a:t>
            </a:r>
            <a:endParaRPr lang="en-US" sz="3000"/>
          </a:p>
        </p:txBody>
      </p:sp>
      <p:pic>
        <p:nvPicPr>
          <p:cNvPr id="1451143410" name="Image 0" descr="validatio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1234440"/>
            <a:ext cx="4335797" cy="4846320"/>
          </a:xfrm>
          <a:prstGeom prst="rect">
            <a:avLst/>
          </a:prstGeom>
        </p:spPr>
      </p:pic>
      <p:sp>
        <p:nvSpPr>
          <p:cNvPr id="1296532032" name="Text 2"/>
          <p:cNvSpPr txBox="1"/>
          <p:nvPr/>
        </p:nvSpPr>
        <p:spPr bwMode="auto">
          <a:xfrm>
            <a:off x="5486400" y="1280160"/>
            <a:ext cx="615391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Register once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through the national identity wallet (mObywatel / EUDI). The Authority issues a key and a citizen certificate, delivered wrapped into the phone's secure element.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Every message is signed.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Any node verifies it with the Authority root key already in the app. No network needed.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Routers hold relay certificates: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they carry, they can never ask. A cryptographic rule, not a policy.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Pseudonymous on the wire.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~30-day keys, re-issued silently, through the mesh when the internet is gone.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Forged alerts die.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Declarations and alerts carry Authority signatures; anything unverifiable is dropped at the first hop.</a:t>
            </a:r>
            <a:endParaRPr lang="en-US" sz="1500"/>
          </a:p>
        </p:txBody>
      </p:sp>
      <p:sp>
        <p:nvSpPr>
          <p:cNvPr id="48658016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37789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PEACE MODE</a:t>
            </a:r>
            <a:endParaRPr lang="en-US" sz="1100"/>
          </a:p>
        </p:txBody>
      </p:sp>
      <p:sp>
        <p:nvSpPr>
          <p:cNvPr id="263696980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Resource sharing within a few hops</a:t>
            </a:r>
            <a:endParaRPr lang="en-US" sz="3000"/>
          </a:p>
        </p:txBody>
      </p:sp>
      <p:sp>
        <p:nvSpPr>
          <p:cNvPr id="83727440" name="Text 2"/>
          <p:cNvSpPr txBox="1"/>
          <p:nvPr/>
        </p:nvSpPr>
        <p:spPr bwMode="auto">
          <a:xfrm>
            <a:off x="548640" y="128016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Request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→ neighbours within the hop limit see it → first accepted match closes it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Shared-ownership amortisation: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 tool pays itself back through community use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Registered static resources: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public AEDs, shelters, water points pinned to the map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Elderly check-in: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device activity for a set time → the closest hops are asked to look in on the person, who may have fallen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Local questions and answers: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is the pharmacy open, who has a spare car seat, is the playground flooded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Guard rails: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rate limits per identity, reputation, quiet hours, category mutes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Why it matters for the bad day: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app is already installed, the identities already issued, the graph already known</a:t>
            </a:r>
            <a:endParaRPr lang="en-US" sz="1500"/>
          </a:p>
        </p:txBody>
      </p:sp>
      <p:sp>
        <p:nvSpPr>
          <p:cNvPr id="2099946720" name="Shape 3"/>
          <p:cNvSpPr/>
          <p:nvPr/>
        </p:nvSpPr>
        <p:spPr bwMode="auto">
          <a:xfrm>
            <a:off x="7589520" y="1280160"/>
            <a:ext cx="4050792" cy="4023360"/>
          </a:xfrm>
          <a:prstGeom prst="roundRect">
            <a:avLst>
              <a:gd name="adj" fmla="val 2727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81537752" name="Text 4"/>
          <p:cNvSpPr txBox="1"/>
          <p:nvPr/>
        </p:nvSpPr>
        <p:spPr bwMode="auto">
          <a:xfrm>
            <a:off x="78181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Example request</a:t>
            </a:r>
            <a:endParaRPr lang="en-US" sz="1200"/>
          </a:p>
        </p:txBody>
      </p:sp>
      <p:sp>
        <p:nvSpPr>
          <p:cNvPr id="633554458" name="Text 5"/>
          <p:cNvSpPr txBox="1"/>
          <p:nvPr/>
        </p:nvSpPr>
        <p:spPr bwMode="auto">
          <a:xfrm>
            <a:off x="7818120" y="1828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Cordless drill, Sunday afternoon</a:t>
            </a:r>
            <a:endParaRPr lang="en-US" sz="2200"/>
          </a:p>
        </p:txBody>
      </p:sp>
      <p:sp>
        <p:nvSpPr>
          <p:cNvPr id="697658926" name="Shape 6"/>
          <p:cNvSpPr/>
          <p:nvPr/>
        </p:nvSpPr>
        <p:spPr bwMode="auto">
          <a:xfrm>
            <a:off x="781812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1731465" name="Text 7"/>
          <p:cNvSpPr txBox="1"/>
          <p:nvPr/>
        </p:nvSpPr>
        <p:spPr bwMode="auto">
          <a:xfrm>
            <a:off x="781812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2 PLN</a:t>
            </a:r>
            <a:endParaRPr lang="en-US" sz="1200"/>
          </a:p>
        </p:txBody>
      </p:sp>
      <p:sp>
        <p:nvSpPr>
          <p:cNvPr id="461647166" name="Shape 8"/>
          <p:cNvSpPr/>
          <p:nvPr/>
        </p:nvSpPr>
        <p:spPr bwMode="auto">
          <a:xfrm>
            <a:off x="905256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3995959" name="Text 9"/>
          <p:cNvSpPr txBox="1"/>
          <p:nvPr/>
        </p:nvSpPr>
        <p:spPr bwMode="auto">
          <a:xfrm>
            <a:off x="905256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3 hops</a:t>
            </a:r>
            <a:endParaRPr lang="en-US" sz="1200"/>
          </a:p>
        </p:txBody>
      </p:sp>
      <p:sp>
        <p:nvSpPr>
          <p:cNvPr id="505365274" name="Shape 10"/>
          <p:cNvSpPr/>
          <p:nvPr/>
        </p:nvSpPr>
        <p:spPr bwMode="auto">
          <a:xfrm>
            <a:off x="1028700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11507420" name="Text 11"/>
          <p:cNvSpPr txBox="1"/>
          <p:nvPr/>
        </p:nvSpPr>
        <p:spPr bwMode="auto">
          <a:xfrm>
            <a:off x="1028700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expires 2 h</a:t>
            </a:r>
            <a:endParaRPr lang="en-US" sz="1200"/>
          </a:p>
        </p:txBody>
      </p:sp>
      <p:sp>
        <p:nvSpPr>
          <p:cNvPr id="292064157" name="Text 12"/>
          <p:cNvSpPr txBox="1"/>
          <p:nvPr/>
        </p:nvSpPr>
        <p:spPr bwMode="auto">
          <a:xfrm>
            <a:off x="781812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Matched by Marek, </a:t>
            </a:r>
            <a:r>
              <a:rPr lang="en-US" sz="1600" b="1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2 hops away</a:t>
            </a:r>
            <a:r>
              <a:rPr lang="en-US" sz="16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, in ~4 minutes.</a:t>
            </a:r>
            <a:endParaRPr lang="en-US" sz="1600"/>
          </a:p>
        </p:txBody>
      </p:sp>
      <p:sp>
        <p:nvSpPr>
          <p:cNvPr id="1913274643" name="Text 13"/>
          <p:cNvSpPr txBox="1"/>
          <p:nvPr/>
        </p:nvSpPr>
        <p:spPr bwMode="auto">
          <a:xfrm>
            <a:off x="7818120" y="42062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No shop trip, no delivery van, one drill working instead of two idle ones.</a:t>
            </a:r>
            <a:endParaRPr lang="en-US" sz="1300"/>
          </a:p>
        </p:txBody>
      </p:sp>
      <p:sp>
        <p:nvSpPr>
          <p:cNvPr id="132134031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28317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EMERGENCY MODE</a:t>
            </a:r>
            <a:endParaRPr lang="en-US" sz="1100"/>
          </a:p>
        </p:txBody>
      </p:sp>
      <p:sp>
        <p:nvSpPr>
          <p:cNvPr id="718654347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Three levels, one signed declaration</a:t>
            </a:r>
            <a:endParaRPr lang="en-US" sz="3000"/>
          </a:p>
        </p:txBody>
      </p:sp>
      <p:graphicFrame>
        <p:nvGraphicFramePr>
          <p:cNvPr id="306924461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280160"/>
          <a:ext cx="11091672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77440"/>
                <a:gridCol w="3017519"/>
                <a:gridCol w="2743200"/>
                <a:gridCol w="2953512"/>
              </a:tblGrid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L1 Disruption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C98A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L2 Disaster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5484D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L3 Security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9B1C28"/>
                    </a:solidFill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Cause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cell outage, cable cut, cyberattack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flood, storm, blackout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terror, war, hybrid attack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Entered by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automatic (no backhaul) or declaration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declaration only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declaration only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Router portal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+ check-in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+ check-in + request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only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Citizen requests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emergency requests: life-critical, safety, “I am OK”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emergency requests: life-critical, safety, “I am OK”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casualty reporting: position + short message to the authorities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Citizen info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off (rumour control), phones go quiet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53574238" name="Shape 2"/>
          <p:cNvSpPr/>
          <p:nvPr/>
        </p:nvSpPr>
        <p:spPr bwMode="auto">
          <a:xfrm>
            <a:off x="548640" y="49377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66165868" name="Text 3"/>
          <p:cNvSpPr txBox="1"/>
          <p:nvPr/>
        </p:nvSpPr>
        <p:spPr bwMode="auto">
          <a:xfrm>
            <a:off x="82296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Jamming the cells can force L1 at most. Everything above it needs a signature. Portal inputs are aggregated once a minute per router, so the mesh load is bounded by routers, not attackers.</a:t>
            </a:r>
            <a:endParaRPr lang="en-US" sz="1900"/>
          </a:p>
        </p:txBody>
      </p:sp>
      <p:sp>
        <p:nvSpPr>
          <p:cNvPr id="58121565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333796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SCENARIO</a:t>
            </a:r>
            <a:endParaRPr lang="en-US" sz="1100"/>
          </a:p>
        </p:txBody>
      </p:sp>
      <p:sp>
        <p:nvSpPr>
          <p:cNvPr id="840573791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AED, in ~90 seconds</a:t>
            </a:r>
            <a:endParaRPr lang="en-US" sz="3000"/>
          </a:p>
        </p:txBody>
      </p:sp>
      <p:sp>
        <p:nvSpPr>
          <p:cNvPr id="240199937" name="Shape 2"/>
          <p:cNvSpPr/>
          <p:nvPr/>
        </p:nvSpPr>
        <p:spPr bwMode="auto">
          <a:xfrm>
            <a:off x="548640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52415324" name="Shape 3"/>
          <p:cNvSpPr/>
          <p:nvPr/>
        </p:nvSpPr>
        <p:spPr bwMode="auto">
          <a:xfrm>
            <a:off x="777240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89187029" name="Text 4"/>
          <p:cNvSpPr txBox="1"/>
          <p:nvPr/>
        </p:nvSpPr>
        <p:spPr bwMode="auto">
          <a:xfrm>
            <a:off x="777240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800"/>
          </a:p>
        </p:txBody>
      </p:sp>
      <p:sp>
        <p:nvSpPr>
          <p:cNvPr id="21030007" name="Text 5"/>
          <p:cNvSpPr txBox="1"/>
          <p:nvPr/>
        </p:nvSpPr>
        <p:spPr bwMode="auto">
          <a:xfrm>
            <a:off x="77724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Ola's phone sends a signed LIFE_CRITICAL request.</a:t>
            </a:r>
            <a:endParaRPr lang="en-US" sz="1700"/>
          </a:p>
        </p:txBody>
      </p:sp>
      <p:sp>
        <p:nvSpPr>
          <p:cNvPr id="1959497218" name="Text 6"/>
          <p:cNvSpPr txBox="1"/>
          <p:nvPr/>
        </p:nvSpPr>
        <p:spPr bwMode="auto">
          <a:xfrm>
            <a:off x="777240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It floods the mesh at top priority, pre-empting everything else.</a:t>
            </a:r>
            <a:endParaRPr lang="en-US" sz="1400"/>
          </a:p>
        </p:txBody>
      </p:sp>
      <p:sp>
        <p:nvSpPr>
          <p:cNvPr id="1891006863" name="Shape 7"/>
          <p:cNvSpPr/>
          <p:nvPr/>
        </p:nvSpPr>
        <p:spPr bwMode="auto">
          <a:xfrm>
            <a:off x="3374136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51875338" name="Shape 8"/>
          <p:cNvSpPr/>
          <p:nvPr/>
        </p:nvSpPr>
        <p:spPr bwMode="auto">
          <a:xfrm>
            <a:off x="3602735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7259950" name="Text 9"/>
          <p:cNvSpPr txBox="1"/>
          <p:nvPr/>
        </p:nvSpPr>
        <p:spPr bwMode="auto">
          <a:xfrm>
            <a:off x="3602735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800"/>
          </a:p>
        </p:txBody>
      </p:sp>
      <p:sp>
        <p:nvSpPr>
          <p:cNvPr id="1766553647" name="Text 10"/>
          <p:cNvSpPr txBox="1"/>
          <p:nvPr/>
        </p:nvSpPr>
        <p:spPr bwMode="auto">
          <a:xfrm>
            <a:off x="3602735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mesh knows a registered AED ~40 m from Marek.</a:t>
            </a:r>
            <a:endParaRPr lang="en-US" sz="1700"/>
          </a:p>
        </p:txBody>
      </p:sp>
      <p:sp>
        <p:nvSpPr>
          <p:cNvPr id="1112594716" name="Text 11"/>
          <p:cNvSpPr txBox="1"/>
          <p:nvPr/>
        </p:nvSpPr>
        <p:spPr bwMode="auto">
          <a:xfrm>
            <a:off x="3602735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He is the nearest capable responder and accepts with one tap.</a:t>
            </a:r>
            <a:endParaRPr lang="en-US" sz="1400"/>
          </a:p>
        </p:txBody>
      </p:sp>
      <p:sp>
        <p:nvSpPr>
          <p:cNvPr id="1327310519" name="Shape 12"/>
          <p:cNvSpPr/>
          <p:nvPr/>
        </p:nvSpPr>
        <p:spPr bwMode="auto">
          <a:xfrm>
            <a:off x="6199632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3312259" name="Shape 13"/>
          <p:cNvSpPr/>
          <p:nvPr/>
        </p:nvSpPr>
        <p:spPr bwMode="auto">
          <a:xfrm>
            <a:off x="6428232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63936463" name="Text 14"/>
          <p:cNvSpPr txBox="1"/>
          <p:nvPr/>
        </p:nvSpPr>
        <p:spPr bwMode="auto">
          <a:xfrm>
            <a:off x="6428232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800"/>
          </a:p>
        </p:txBody>
      </p:sp>
      <p:sp>
        <p:nvSpPr>
          <p:cNvPr id="18010485" name="Text 15"/>
          <p:cNvSpPr txBox="1"/>
          <p:nvPr/>
        </p:nvSpPr>
        <p:spPr bwMode="auto">
          <a:xfrm>
            <a:off x="6428232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Everyone else sees the request is taken.</a:t>
            </a:r>
            <a:endParaRPr lang="en-US" sz="1700"/>
          </a:p>
        </p:txBody>
      </p:sp>
      <p:sp>
        <p:nvSpPr>
          <p:cNvPr id="929170234" name="Text 16"/>
          <p:cNvSpPr txBox="1"/>
          <p:nvPr/>
        </p:nvSpPr>
        <p:spPr bwMode="auto">
          <a:xfrm>
            <a:off x="6428232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mesh guides Marek to the AED, then to Ola.</a:t>
            </a:r>
            <a:endParaRPr lang="en-US" sz="1400"/>
          </a:p>
        </p:txBody>
      </p:sp>
      <p:sp>
        <p:nvSpPr>
          <p:cNvPr id="2098789383" name="Shape 17"/>
          <p:cNvSpPr/>
          <p:nvPr/>
        </p:nvSpPr>
        <p:spPr bwMode="auto">
          <a:xfrm>
            <a:off x="9025128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482418551" name="Shape 18"/>
          <p:cNvSpPr/>
          <p:nvPr/>
        </p:nvSpPr>
        <p:spPr bwMode="auto">
          <a:xfrm>
            <a:off x="9253728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06512863" name="Text 19"/>
          <p:cNvSpPr txBox="1"/>
          <p:nvPr/>
        </p:nvSpPr>
        <p:spPr bwMode="auto">
          <a:xfrm>
            <a:off x="9253728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800"/>
          </a:p>
        </p:txBody>
      </p:sp>
      <p:sp>
        <p:nvSpPr>
          <p:cNvPr id="1303726247" name="Text 20"/>
          <p:cNvSpPr txBox="1"/>
          <p:nvPr/>
        </p:nvSpPr>
        <p:spPr bwMode="auto">
          <a:xfrm>
            <a:off x="9253728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Marek runs it over.</a:t>
            </a:r>
            <a:endParaRPr lang="en-US" sz="1700"/>
          </a:p>
        </p:txBody>
      </p:sp>
      <p:sp>
        <p:nvSpPr>
          <p:cNvPr id="893354684" name="Text 21"/>
          <p:cNvSpPr txBox="1"/>
          <p:nvPr/>
        </p:nvSpPr>
        <p:spPr bwMode="auto">
          <a:xfrm>
            <a:off x="9253728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One person moves, the messages did the rest. Staff would take ~6 minutes.</a:t>
            </a:r>
            <a:endParaRPr lang="en-US" sz="1400"/>
          </a:p>
        </p:txBody>
      </p:sp>
      <p:sp>
        <p:nvSpPr>
          <p:cNvPr id="10674184" name="Shape 22"/>
          <p:cNvSpPr/>
          <p:nvPr/>
        </p:nvSpPr>
        <p:spPr bwMode="auto"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404811624" name="Text 23"/>
          <p:cNvSpPr txBox="1"/>
          <p:nvPr/>
        </p:nvSpPr>
        <p:spPr bwMode="auto"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Messages travel hop by hop. The object travels with one person.</a:t>
            </a:r>
            <a:endParaRPr lang="en-US" sz="1900"/>
          </a:p>
        </p:txBody>
      </p:sp>
      <p:sp>
        <p:nvSpPr>
          <p:cNvPr id="52375311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10781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WHAT WE BUILT AT HACKYEAH</a:t>
            </a:r>
            <a:endParaRPr lang="en-US" sz="1100"/>
          </a:p>
        </p:txBody>
      </p:sp>
      <p:sp>
        <p:nvSpPr>
          <p:cNvPr id="1762713851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A simulation of the protocol on a city graph</a:t>
            </a:r>
            <a:endParaRPr lang="en-US" sz="3000"/>
          </a:p>
        </p:txBody>
      </p:sp>
      <p:sp>
        <p:nvSpPr>
          <p:cNvPr id="1437537097" name="Text 2"/>
          <p:cNvSpPr txBox="1"/>
          <p:nvPr/>
        </p:nvSpPr>
        <p:spPr bwMode="auto">
          <a:xfrm>
            <a:off x="548640" y="12344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Kraków district, static router layer plus mobile phone layer, in one interactive one-pager. Deterministic, playable step by step:</a:t>
            </a:r>
            <a:endParaRPr lang="en-US" sz="1500"/>
          </a:p>
        </p:txBody>
      </p:sp>
      <p:sp>
        <p:nvSpPr>
          <p:cNvPr id="1981180555" name="Shape 3"/>
          <p:cNvSpPr/>
          <p:nvPr/>
        </p:nvSpPr>
        <p:spPr bwMode="auto">
          <a:xfrm>
            <a:off x="548640" y="21031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2039807700" name="Shape 4"/>
          <p:cNvSpPr/>
          <p:nvPr/>
        </p:nvSpPr>
        <p:spPr bwMode="auto">
          <a:xfrm>
            <a:off x="658368" y="21945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451426289" name="Text 5"/>
          <p:cNvSpPr txBox="1"/>
          <p:nvPr/>
        </p:nvSpPr>
        <p:spPr bwMode="auto">
          <a:xfrm>
            <a:off x="65836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200"/>
          </a:p>
        </p:txBody>
      </p:sp>
      <p:sp>
        <p:nvSpPr>
          <p:cNvPr id="1161876405" name="Text 6"/>
          <p:cNvSpPr txBox="1"/>
          <p:nvPr/>
        </p:nvSpPr>
        <p:spPr bwMode="auto">
          <a:xfrm>
            <a:off x="114300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Peace request + match</a:t>
            </a:r>
            <a:endParaRPr lang="en-US" sz="1300"/>
          </a:p>
        </p:txBody>
      </p:sp>
      <p:sp>
        <p:nvSpPr>
          <p:cNvPr id="412250144" name="Shape 7"/>
          <p:cNvSpPr/>
          <p:nvPr/>
        </p:nvSpPr>
        <p:spPr bwMode="auto">
          <a:xfrm>
            <a:off x="3931920" y="21031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10512087" name="Shape 8"/>
          <p:cNvSpPr/>
          <p:nvPr/>
        </p:nvSpPr>
        <p:spPr bwMode="auto">
          <a:xfrm>
            <a:off x="4041648" y="21945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175164111" name="Text 9"/>
          <p:cNvSpPr txBox="1"/>
          <p:nvPr/>
        </p:nvSpPr>
        <p:spPr bwMode="auto">
          <a:xfrm>
            <a:off x="40416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200"/>
          </a:p>
        </p:txBody>
      </p:sp>
      <p:sp>
        <p:nvSpPr>
          <p:cNvPr id="187483474" name="Text 10"/>
          <p:cNvSpPr txBox="1"/>
          <p:nvPr/>
        </p:nvSpPr>
        <p:spPr bwMode="auto">
          <a:xfrm>
            <a:off x="452628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Flooding: hop limit, TTL, dedup</a:t>
            </a:r>
            <a:endParaRPr lang="en-US" sz="1300"/>
          </a:p>
        </p:txBody>
      </p:sp>
      <p:sp>
        <p:nvSpPr>
          <p:cNvPr id="1935030632" name="Shape 11"/>
          <p:cNvSpPr/>
          <p:nvPr/>
        </p:nvSpPr>
        <p:spPr bwMode="auto">
          <a:xfrm>
            <a:off x="548640" y="2788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82885579" name="Shape 12"/>
          <p:cNvSpPr/>
          <p:nvPr/>
        </p:nvSpPr>
        <p:spPr bwMode="auto">
          <a:xfrm>
            <a:off x="658368" y="28803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94839128" name="Text 13"/>
          <p:cNvSpPr txBox="1"/>
          <p:nvPr/>
        </p:nvSpPr>
        <p:spPr bwMode="auto">
          <a:xfrm>
            <a:off x="65836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200"/>
          </a:p>
        </p:txBody>
      </p:sp>
      <p:sp>
        <p:nvSpPr>
          <p:cNvPr id="905114869" name="Text 14"/>
          <p:cNvSpPr txBox="1"/>
          <p:nvPr/>
        </p:nvSpPr>
        <p:spPr bwMode="auto">
          <a:xfrm>
            <a:off x="114300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Cells down → L1, router backbone</a:t>
            </a:r>
            <a:endParaRPr lang="en-US" sz="1300"/>
          </a:p>
        </p:txBody>
      </p:sp>
      <p:sp>
        <p:nvSpPr>
          <p:cNvPr id="1130715960" name="Shape 15"/>
          <p:cNvSpPr/>
          <p:nvPr/>
        </p:nvSpPr>
        <p:spPr bwMode="auto">
          <a:xfrm>
            <a:off x="3931920" y="2788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971227610" name="Shape 16"/>
          <p:cNvSpPr/>
          <p:nvPr/>
        </p:nvSpPr>
        <p:spPr bwMode="auto">
          <a:xfrm>
            <a:off x="4041648" y="28803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790109138" name="Text 17"/>
          <p:cNvSpPr txBox="1"/>
          <p:nvPr/>
        </p:nvSpPr>
        <p:spPr bwMode="auto">
          <a:xfrm>
            <a:off x="404164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200"/>
          </a:p>
        </p:txBody>
      </p:sp>
      <p:sp>
        <p:nvSpPr>
          <p:cNvPr id="1902808971" name="Text 18"/>
          <p:cNvSpPr txBox="1"/>
          <p:nvPr/>
        </p:nvSpPr>
        <p:spPr bwMode="auto">
          <a:xfrm>
            <a:off x="452628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Power down → phone-only, store-and-forward</a:t>
            </a:r>
            <a:endParaRPr lang="en-US" sz="1300"/>
          </a:p>
        </p:txBody>
      </p:sp>
      <p:sp>
        <p:nvSpPr>
          <p:cNvPr id="1646713728" name="Shape 19"/>
          <p:cNvSpPr/>
          <p:nvPr/>
        </p:nvSpPr>
        <p:spPr bwMode="auto">
          <a:xfrm>
            <a:off x="548640" y="34747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56264795" name="Shape 20"/>
          <p:cNvSpPr/>
          <p:nvPr/>
        </p:nvSpPr>
        <p:spPr bwMode="auto">
          <a:xfrm>
            <a:off x="658368" y="35661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885077313" name="Text 21"/>
          <p:cNvSpPr txBox="1"/>
          <p:nvPr/>
        </p:nvSpPr>
        <p:spPr bwMode="auto">
          <a:xfrm>
            <a:off x="65836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lang="en-US" sz="1200"/>
          </a:p>
        </p:txBody>
      </p:sp>
      <p:sp>
        <p:nvSpPr>
          <p:cNvPr id="1489836331" name="Text 22"/>
          <p:cNvSpPr txBox="1"/>
          <p:nvPr/>
        </p:nvSpPr>
        <p:spPr bwMode="auto">
          <a:xfrm>
            <a:off x="114300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L2 vs L3 side by side</a:t>
            </a:r>
            <a:endParaRPr lang="en-US" sz="1300"/>
          </a:p>
        </p:txBody>
      </p:sp>
      <p:sp>
        <p:nvSpPr>
          <p:cNvPr id="1952981667" name="Shape 23"/>
          <p:cNvSpPr/>
          <p:nvPr/>
        </p:nvSpPr>
        <p:spPr bwMode="auto">
          <a:xfrm>
            <a:off x="3931920" y="34747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309794040" name="Shape 24"/>
          <p:cNvSpPr/>
          <p:nvPr/>
        </p:nvSpPr>
        <p:spPr bwMode="auto">
          <a:xfrm>
            <a:off x="4041648" y="35661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349084974" name="Text 25"/>
          <p:cNvSpPr txBox="1"/>
          <p:nvPr/>
        </p:nvSpPr>
        <p:spPr bwMode="auto">
          <a:xfrm>
            <a:off x="404164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lang="en-US" sz="1200"/>
          </a:p>
        </p:txBody>
      </p:sp>
      <p:sp>
        <p:nvSpPr>
          <p:cNvPr id="1781359038" name="Text 26"/>
          <p:cNvSpPr txBox="1"/>
          <p:nvPr/>
        </p:nvSpPr>
        <p:spPr bwMode="auto">
          <a:xfrm>
            <a:off x="452628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Coverage planning</a:t>
            </a:r>
            <a:endParaRPr lang="en-US" sz="1300"/>
          </a:p>
        </p:txBody>
      </p:sp>
      <p:sp>
        <p:nvSpPr>
          <p:cNvPr id="844598415" name="Text 27"/>
          <p:cNvSpPr txBox="1"/>
          <p:nvPr/>
        </p:nvSpPr>
        <p:spPr bwMode="auto">
          <a:xfrm>
            <a:off x="548640" y="4251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Live metrics: </a:t>
            </a: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reach, delivery per class, hops, latency. Sliders for participation and radio range show the </a:t>
            </a:r>
            <a:r>
              <a:rPr lang="en-US" sz="14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percolation threshold</a:t>
            </a: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: how few nodes are enough.</a:t>
            </a:r>
            <a:endParaRPr lang="en-US" sz="1400"/>
          </a:p>
        </p:txBody>
      </p:sp>
      <p:sp>
        <p:nvSpPr>
          <p:cNvPr id="1948797526" name="Shape 28"/>
          <p:cNvSpPr/>
          <p:nvPr/>
        </p:nvSpPr>
        <p:spPr bwMode="auto">
          <a:xfrm>
            <a:off x="7680960" y="1234440"/>
            <a:ext cx="3959352" cy="3840480"/>
          </a:xfrm>
          <a:prstGeom prst="roundRect">
            <a:avLst>
              <a:gd name="adj" fmla="val 28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966160497" name="Text 29"/>
          <p:cNvSpPr txBox="1"/>
          <p:nvPr/>
        </p:nvSpPr>
        <p:spPr bwMode="auto">
          <a:xfrm>
            <a:off x="79095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Honest scope</a:t>
            </a:r>
            <a:endParaRPr lang="en-US" sz="1800"/>
          </a:p>
        </p:txBody>
      </p:sp>
      <p:sp>
        <p:nvSpPr>
          <p:cNvPr id="1612088532" name="Text 30"/>
          <p:cNvSpPr txBox="1"/>
          <p:nvPr/>
        </p:nvSpPr>
        <p:spPr bwMode="auto">
          <a:xfrm>
            <a:off x="7909560" y="182880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Built: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protocol simulation (modes, levels, flooding, hop limits, TTL, de-duplication, store-and-forward, degradation)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Not simulated: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cryptography is standard and not simulated; the simulation is about mesh behaviour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In progress: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 device prototype of the protocol module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Not built: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router firmware, identity integration, Authority services</a:t>
            </a:r>
            <a:endParaRPr lang="en-US" sz="1300"/>
          </a:p>
        </p:txBody>
      </p:sp>
      <p:sp>
        <p:nvSpPr>
          <p:cNvPr id="868645062" name="Shape 31"/>
          <p:cNvSpPr/>
          <p:nvPr/>
        </p:nvSpPr>
        <p:spPr bwMode="auto"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796005981" name="Text 32"/>
          <p:cNvSpPr txBox="1"/>
          <p:nvPr/>
        </p:nvSpPr>
        <p:spPr bwMode="auto">
          <a:xfrm>
            <a:off x="82296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Pomóc is a vision; the simulation is the argument.</a:t>
            </a:r>
            <a:endParaRPr lang="en-US" sz="1900"/>
          </a:p>
        </p:txBody>
      </p:sp>
      <p:sp>
        <p:nvSpPr>
          <p:cNvPr id="5499983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15971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WHY IT IS BELIEVABLE</a:t>
            </a:r>
            <a:endParaRPr lang="en-US" sz="1100"/>
          </a:p>
        </p:txBody>
      </p:sp>
      <p:sp>
        <p:nvSpPr>
          <p:cNvPr id="51630029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Every piece is tried and validated. Nobody has combined them.</a:t>
            </a:r>
            <a:endParaRPr lang="en-US" sz="3000"/>
          </a:p>
        </p:txBody>
      </p:sp>
      <p:sp>
        <p:nvSpPr>
          <p:cNvPr id="977339253" name="Text 2"/>
          <p:cNvSpPr txBox="1"/>
          <p:nvPr/>
        </p:nvSpPr>
        <p:spPr bwMode="auto">
          <a:xfrm>
            <a:off x="548640" y="1280160"/>
            <a:ext cx="6766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00000JAPAN and Comcast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already flip existing home and public Wi-Fi open in disasters, by remote config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EUDI wallets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are mandatory EU-wide: Pomóc plugs into mObywatel in Poland, DÁP in Hungary, any national wallet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Alert RCB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is moving into mObywatel; Pomóc is its offline continuation when the cells are down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Japan's Relay-by-Smartphone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proved phone-to-phone message relaying after 2011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Peerby: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~80% of neighbourhood requests filled within ~30 minutes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Standard parts: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TR-369 router management, BLE / Wi-Fi Aware, PKI with secure-element keys</a:t>
            </a:r>
            <a:endParaRPr lang="en-US" sz="1500"/>
          </a:p>
        </p:txBody>
      </p:sp>
      <p:sp>
        <p:nvSpPr>
          <p:cNvPr id="1477137037" name="Shape 3"/>
          <p:cNvSpPr/>
          <p:nvPr/>
        </p:nvSpPr>
        <p:spPr bwMode="auto">
          <a:xfrm>
            <a:off x="7680960" y="1280160"/>
            <a:ext cx="3959352" cy="3931920"/>
          </a:xfrm>
          <a:prstGeom prst="roundRect">
            <a:avLst>
              <a:gd name="adj" fmla="val 279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97660732" name="Text 4"/>
          <p:cNvSpPr txBox="1"/>
          <p:nvPr/>
        </p:nvSpPr>
        <p:spPr bwMode="auto">
          <a:xfrm>
            <a:off x="79095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point</a:t>
            </a:r>
            <a:endParaRPr lang="en-US" sz="1700"/>
          </a:p>
        </p:txBody>
      </p:sp>
      <p:sp>
        <p:nvSpPr>
          <p:cNvPr id="1532316002" name="Text 5"/>
          <p:cNvSpPr txBox="1"/>
          <p:nvPr/>
        </p:nvSpPr>
        <p:spPr bwMode="auto">
          <a:xfrm>
            <a:off x="7909560" y="187452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The first 24 hours.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After an attack or disaster, authorities and the military need time to respond. Pomóc keeps a communication platform alive in that gap.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Fewer casualties.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Life-critical requests, casualty reports with position, and verified official alerts keep moving without cells or power.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Already in every pocket.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new hardware, no new identity scheme: phones, home routers and the national EUDI wallet.</a:t>
            </a:r>
            <a:endParaRPr lang="en-US" sz="1300"/>
          </a:p>
        </p:txBody>
      </p:sp>
      <p:sp>
        <p:nvSpPr>
          <p:cNvPr id="1697106971" name="Shape 6"/>
          <p:cNvSpPr/>
          <p:nvPr/>
        </p:nvSpPr>
        <p:spPr bwMode="auto">
          <a:xfrm>
            <a:off x="548640" y="544068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395561029" name="Text 7"/>
          <p:cNvSpPr txBox="1"/>
          <p:nvPr/>
        </p:nvSpPr>
        <p:spPr bwMode="auto">
          <a:xfrm>
            <a:off x="822960" y="5440680"/>
            <a:ext cx="10561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Next: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protocol spec · pilot in one district with one ISP · battery-backed relay placement from the coverage model.   </a:t>
            </a:r>
            <a:r>
              <a:rPr lang="en-US" sz="1300">
                <a:solidFill>
                  <a:srgbClr val="B7C5D6"/>
                </a:solidFill>
                <a:latin typeface="Calibri"/>
                <a:ea typeface="Calibri"/>
                <a:cs typeface="Calibri"/>
              </a:rPr>
              <a:t>Concept, research, docs, simulation and this deck were made with AI assistance (Claude Code); the team stands behind all of it.</a:t>
            </a:r>
            <a:endParaRPr lang="en-US" sz="1300"/>
          </a:p>
        </p:txBody>
      </p:sp>
      <p:sp>
        <p:nvSpPr>
          <p:cNvPr id="45529565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euro-office/2.5.565.0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Pomóc - The network that is already there</dc:title>
  <dc:subject>PptxGenJS Presentation</dc:subject>
  <dc:creator>Vargha Csongor Csaba · Magyar Dániel · Fábi Tamás</dc:creator>
  <cp:lastModifiedBy>John Smith</cp:lastModifiedBy>
  <cp:revision>2</cp:revision>
  <dcterms:created xsi:type="dcterms:W3CDTF">2026-10-03T18:12:02Z</dcterms:created>
  <dcterms:modified xsi:type="dcterms:W3CDTF">2026-10-03T23:56:46Z</dcterms:modified>
</cp:coreProperties>
</file>